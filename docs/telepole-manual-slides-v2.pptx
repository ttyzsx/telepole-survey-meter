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82296" cy="1554480"/>
          </a:xfrm>
          <a:prstGeom prst="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74519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500" b="1">
                <a:solidFill>
                  <a:srgbClr val="4ED9A4"/>
                </a:solidFill>
                <a:latin typeface="Leelawadee UI"/>
              </a:rPr>
              <a:t>นำเสนอสรุปคู่มือ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4000" b="1">
                <a:solidFill>
                  <a:srgbClr val="ECF2F8"/>
                </a:solidFill>
                <a:latin typeface="Leelawadee UI"/>
              </a:rPr>
              <a:t>ไกเกอร์เคาน์เตอร์ LND712 ทำงานอย่างไร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700" b="0">
                <a:solidFill>
                  <a:srgbClr val="74889B"/>
                </a:solidFill>
                <a:latin typeface="Leelawadee UI"/>
              </a:rPr>
              <a:t>เดินตามสัญญาณหนึ่งเส้น ตั้งแต่รังสีเข้าหลอด จนถึงตัวเลขบนจอและเสียงเตือน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โครงเรื่อง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ทุกอย่างในเครื่องนี้อยู่บนสัญญาณเส้นเดียว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4ED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รังสี</a:t>
            </a:r>
          </a:p>
          <a:p>
            <a:r>
              <a:rPr sz="1000">
                <a:solidFill>
                  <a:srgbClr val="74889B"/>
                </a:solidFill>
                <a:latin typeface="Leelawadee UI"/>
              </a:rPr>
              <a:t>อนุภาคผ่านหลอด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9696" y="274320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D9A4"/>
                </a:solidFill>
                <a:latin typeface="Leelawade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228600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พัลส์</a:t>
            </a:r>
          </a:p>
          <a:p>
            <a:r>
              <a:rPr sz="1000">
                <a:solidFill>
                  <a:srgbClr val="74889B"/>
                </a:solidFill>
                <a:latin typeface="Leelawadee UI"/>
              </a:rPr>
              <a:t>0-5V เข้าขา D2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274320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D9A4"/>
                </a:solidFill>
                <a:latin typeface="Leelawade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59936" y="228600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นับ</a:t>
            </a:r>
          </a:p>
          <a:p>
            <a:r>
              <a:rPr sz="1000">
                <a:solidFill>
                  <a:srgbClr val="74889B"/>
                </a:solidFill>
                <a:latin typeface="Leelawadee UI"/>
              </a:rPr>
              <a:t>interrupt เก็บจำนวน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274320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D9A4"/>
                </a:solidFill>
                <a:latin typeface="Leelawade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8424" y="228600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CPM</a:t>
            </a:r>
          </a:p>
          <a:p>
            <a:r>
              <a:rPr sz="1000">
                <a:solidFill>
                  <a:srgbClr val="74889B"/>
                </a:solidFill>
                <a:latin typeface="Leelawadee UI"/>
              </a:rPr>
              <a:t>× 6 ทุก 10 วินาที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74320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D9A4"/>
                </a:solidFill>
                <a:latin typeface="Leelawade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228600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หัก BG</a:t>
            </a:r>
          </a:p>
          <a:p>
            <a:r>
              <a:rPr sz="1000">
                <a:solidFill>
                  <a:srgbClr val="74889B"/>
                </a:solidFill>
                <a:latin typeface="Leelawadee UI"/>
              </a:rPr>
              <a:t>ลบรังสีพื้นหลัง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74320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D9A4"/>
                </a:solidFill>
                <a:latin typeface="Leelawade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28600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µSv/h</a:t>
            </a:r>
          </a:p>
          <a:p>
            <a:r>
              <a:rPr sz="1000">
                <a:solidFill>
                  <a:srgbClr val="74889B"/>
                </a:solidFill>
                <a:latin typeface="Leelawadee UI"/>
              </a:rPr>
              <a:t>× conversion factor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32136" y="2743200"/>
            <a:ext cx="30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ED9A4"/>
                </a:solidFill>
                <a:latin typeface="Leelawade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33888" y="2286000"/>
            <a:ext cx="1316736" cy="137160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4ED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CF2F8"/>
                </a:solidFill>
                <a:latin typeface="Leelawadee UI"/>
              </a:rPr>
              <a:t>เตือน</a:t>
            </a:r>
          </a:p>
          <a:p>
            <a:r>
              <a:rPr sz="1000">
                <a:solidFill>
                  <a:srgbClr val="74889B"/>
                </a:solidFill>
                <a:latin typeface="Leelawadee UI"/>
              </a:rPr>
              <a:t>เทียบ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สไลด์ต่อจากนี้ไล่ทีละขั้นตามลำดับนี้ และบอกว่าโค้ดฟังก์ชันไหนรับผิดชอบขั้นไหน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ทุกขั้นมีกล่องสีเหลืองด้านขวา อธิบายว่าทำไมคู่มือถึงเลือกทำแบบนั้น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รายการอุปกรณ์ ตารางขา และการแก้ปัญหา ย้ายไปไว้เป็นภาคผนวกท้ายเล่ม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จากรังสีกลายเป็นพัลส์ไฟฟ้า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หลอด LND712 บรรจุแก๊ส มีขั้วไฟฟ้าต่างศักย์กัน ต้องการแรงดัน 450-650V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อนุภาครังสีผ่านเข้าไป ทำให้แก๊สแตกตัว เกิดการนำไฟฟ้าชั่วขณะ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ได้พัลส์แรงดันสั้นมาก หนึ่งลูกต่อหนึ่งอนุภาค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โมดูลจ่ายแรงดันสูงจัดรูปพัลส์ให้เป็นสัญญาณ TTL 0-5V ก่อนส่งเข้า Arduino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คู่มือแนะนำให้ตั้งแรงดันไว้ประมาณ 500V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402336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2632" y="1965960"/>
            <a:ext cx="3739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5B34A"/>
                </a:solidFill>
                <a:latin typeface="Leelawadee UI"/>
              </a:rPr>
              <a:t>ทำไมถึงสำคัญ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หลอด GM บอกได้แค่ว่า มีอนุภาคผ่าน ไม่ได้บอกว่าเป็นรังสีชนิดใดหรือพลังงานเท่าไร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ทุกตัวเลขที่เหลือในเครื่องนี้จึงเป็นการตีความจากการนับล้วน ๆ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คู่มือเตือนว่า 400-550V เป็นอันตราย ต้องหุ้มฉนวนและระวังขณะต่อวงจร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144768"/>
            <a:ext cx="1371600" cy="329184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0161D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2 · countPulse()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จับพัลส์ให้ครบด้วย Interrupt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attachInterrupt(digitalPinToInterrupt(GEIGER_PIN), countPulse, RISING)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ฟังก์ชัน countPulse() มีคำสั่งเดียวคือ pulseCount++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ตัวแปรประกาศเป็น volatile unsigned long pulseCount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ตั้งค่าใน setup() พร้อมกับ pinMode(GEIGER_PIN, INPUT)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402336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2632" y="1965960"/>
            <a:ext cx="3739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5B34A"/>
                </a:solidFill>
                <a:latin typeface="Leelawadee UI"/>
              </a:rPr>
              <a:t>ทำไมต้องเป็นแบบนี้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Consolas"/>
              </a:rPr>
              <a:t>พัลส์กว้างระดับไมโครวินาที ถ้าใช้ digitalRead ในลูปปกติจะอ่านไม่ทันและนับตกหล่น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ATmega328P มี external interrupt แค่ 2 ช่อง คือ D2 และ D3 จึงบังคับว่าสัญญาณต้องเข้าขานี้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โค้ดใน interrupt ยิ่งยาวยิ่งเสี่ยงพลาดพัลส์ลูกถัดไป จึงเหลือแค่บวกหนึ่ง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Consolas"/>
              </a:rPr>
              <a:t>volatile บอกคอมไพเลอร์ว่าค่าถูกแก้จากนอกลูป ห้าม optimize ทิ้ง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6144768"/>
            <a:ext cx="1371600" cy="329184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0161D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3 · loop()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นับสะสมแล้วแปลงเป็น CPM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ทุกครบ SAMPLE_TIME = 10000 ms จึงคำนวณหนึ่งครั้ง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noInterrupts() แล้วอ่าน counts = pulseCount จากนั้น pulseCount = 0 แล้ว interrupts()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cpm = counts * MULTIPLIER  โดย MULTIPLIER = 60000 / SAMPLE_TIME = 6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สูตรทั่วไป: CPM = (พัลส์ในเวลา T วินาที) × (60 / 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402336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2632" y="1965960"/>
            <a:ext cx="3739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5B34A"/>
                </a:solidFill>
                <a:latin typeface="Leelawadee UI"/>
              </a:rPr>
              <a:t>ทำไมต้องปิด Interrupt ชั่วคราว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การอ่านค่าแล้วรีเซ็ตเป็นสองคำสั่ง ไม่ใช่คำสั่งเดียว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ถ้าพัลส์เข้ามาระหว่างสองคำสั่งนั้น มันจะถูกนับแล้วโดนล้างทิ้งทันที คือหายไปเลย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ปิด interrupt แค่สองบรรทัดจึงไม่ทำให้พลาดพัลส์ เพราะฮาร์ดแวร์จำสถานะไว้ให้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คู่มือเลือก 10 วินาทีเพื่อให้ตัวเลขขึ้นเร็ว ไม่ต้องรอครบนาที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6144768"/>
            <a:ext cx="1371600" cy="329184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0161D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หักค่ารังสีพื้นหลังออก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adjustedCPM = cpm - background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ถ้า adjustedCPM ติดลบ ให้ตั้งเป็นศูนย์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DEFAULT_BACKGROUND = 20.0 CPM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คู่มือระบุว่ารังสีพื้นหลังจริงอยู่ราว 15-30 CPM ขึ้นกับสถานที่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วิธีหาค่า: วัดในที่ที่ไม่มีแหล่งรังสีเพิ่มเติมนาน 10-15 นาที แล้วเฉลี่ย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402336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2632" y="1965960"/>
            <a:ext cx="3739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5B34A"/>
                </a:solidFill>
                <a:latin typeface="Leelawadee UI"/>
              </a:rPr>
              <a:t>ผลของการหักตรงนี้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ตัวเลขที่เห็นจะสะท้อนเฉพาะรังสีที่ เพิ่มมา จากแหล่งกำเนิด ไม่ใช่ค่าที่วัดได้ทั้งหมด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Consolas"/>
              </a:rPr>
              <a:t>ถ้าตั้งค่า background ผิด ตัวเลขจะผิดตามไปทั้งหมด และย้อนกลับไปดูค่าดิบไม่ได้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คู่มือจึงทำปุ่มให้แก้ค่านี้ได้ที่หน้าเครื่อง ไม่ต้อง flash ใหม่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6144768"/>
            <a:ext cx="1371600" cy="329184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0161D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แปลง CPM เป็น µSv/h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doseRate = adjustedCPM * convFactor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DEFAULT_CONV_FACTOR = 0.00833 เป็นค่าที่คู่มือเลือกใช้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คู่มือระบุค่าของ LND712 ไว้ 3 ค่าที่พบใช้กัน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0.00833 — จากโปรเจกต์ Geiger Counter บน ESP32 ของ danjulio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0.00926 — เท่ากับ 108 CPM ต่อ 1 µSv/h พบในเอกสารอ้างอิงบางแหล่ง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0.00233 — ตามตาราง Conversion Factors บางชุด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402336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2632" y="1965960"/>
            <a:ext cx="3739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5B34A"/>
                </a:solidFill>
                <a:latin typeface="Leelawadee UI"/>
              </a:rPr>
              <a:t>ทำไมค่าถึงไม่ตรงกัน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หลอด GM ตอบสนองต่างกันตามพลังงานโฟตอน ค่าจึงผูกกับพลังงานอ้างอิงที่ใช้วัด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CPM คือค่าที่วัดได้จริง ส่วน µSv/h เป็นค่าเทียบเท่าที่ขึ้นกับสมมติฐาน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คู่มือจึงบอกว่าควรสอบเทียบกับเครื่องมือมาตรฐานหากมีความจำเป็น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6144768"/>
            <a:ext cx="1371600" cy="329184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0161D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6 · triggerAlert()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เทียบเกณฑ์แล้วส่งเสียงเตือน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ถ้า doseRate &gt;= alertThreshold เรียก triggerAlert()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ถ้าไม่ถึงเกณฑ์ ตั้ง alertActive = false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ใน triggerAlert() ทำงานเมื่อ alertActive ยังเป็นเท็จเท่านั้น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ตั้ง alertActive = true แล้วสั่ง tone(BUZZER_PIN, 2000, 500)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DEFAULT_ALERT_THRESHOLD = 1.0 µSv/h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402336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2632" y="1965960"/>
            <a:ext cx="3739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5B34A"/>
                </a:solidFill>
                <a:latin typeface="Leelawadee UI"/>
              </a:rPr>
              <a:t>ทำไมต้องมีตัวแปร alertActive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Consolas"/>
              </a:rPr>
              <a:t>loop() วนเร็วมาก ถ้าไม่มีตัวกันไว้ เสียงจะถูกสั่งซ้ำทุกรอบจนฟังเป็นเสียงรัว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หลักการคือ เสียงเตือนต้องเริ่มและหยุดตอนสถานะ เปลี่ยน ไม่ใช่เล่นซ้ำทุกรอบ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การรีเซ็ตเป็นเท็จเมื่อค่าลดลง ทำให้ครั้งต่อไปที่เกินเกณฑ์ยังเตือนได้อีก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44768"/>
            <a:ext cx="1371600" cy="329184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0161D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ขั้นที่ 7 · updateDisplay() และ sendBluetoothData()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แสดงผลและส่งออก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updateDisplay() เคลียร์จอ ตั้งขนาดตัวอักษร สี และตำแหน่งเคอร์เซอร์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แสดง CPM, Dose, Alert และ Conv บนหน้าเดียว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ถ้า menuMode != 0 จะแสดงข้อความ Menu Mode ต่อท้าย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sendBluetoothData() ใช้ snprintf จัดรูปข้อความลง buffer ขนาด 50 ตัวอักษร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ส่งออกด้วย bluetooth.print ทุก 10 วินาที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รูปแบบที่ออก: cpm=124.00;uSv/h=1.03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51960" cy="4023360"/>
          </a:xfrm>
          <a:prstGeom prst="roundRect">
            <a:avLst/>
          </a:prstGeom>
          <a:solidFill>
            <a:srgbClr val="19232E"/>
          </a:solidFill>
          <a:ln w="12700">
            <a:solidFill>
              <a:srgbClr val="2835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42632" y="1965960"/>
            <a:ext cx="37398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F5B34A"/>
                </a:solidFill>
                <a:latin typeface="Leelawadee UI"/>
              </a:rPr>
              <a:t>ทำไม snprintf ไม่ใช่ sprintf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Consolas"/>
              </a:rPr>
              <a:t>sprintf ไม่รู้ขนาด buffer ถ้าข้อความยาวเกินจะเขียนทับหน่วยความจำข้างเคียง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Leelawadee UI"/>
              </a:rPr>
              <a:t>บนไมโครคอนโทรลเลอร์ที่มี RAM 2 KB อาการที่ได้คือค้างหรือรีเซ็ตแบบหาสาเหตุไม่เจอ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1300">
                <a:solidFill>
                  <a:srgbClr val="C3D0DC"/>
                </a:solidFill>
                <a:latin typeface="Consolas"/>
              </a:rPr>
              <a:t>snprintf รับขนาดไปด้วย จึงตัดข้อความแทนที่จะล้น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1. พัลส์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3432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2. นับ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3. CPM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4. หัก BG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5. µSv/h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6144768"/>
            <a:ext cx="1371600" cy="329184"/>
          </a:xfrm>
          <a:prstGeom prst="roundRect">
            <a:avLst/>
          </a:prstGeom>
          <a:solidFill>
            <a:srgbClr val="19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0">
                <a:solidFill>
                  <a:srgbClr val="74889B"/>
                </a:solidFill>
                <a:latin typeface="Leelawadee UI"/>
              </a:rPr>
              <a:t>6. เตือน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65792" y="6144768"/>
            <a:ext cx="1371600" cy="329184"/>
          </a:xfrm>
          <a:prstGeom prst="roundRect">
            <a:avLst/>
          </a:prstGeom>
          <a:solidFill>
            <a:srgbClr val="4ED9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0161D"/>
                </a:solidFill>
                <a:latin typeface="Leelawadee UI"/>
              </a:rPr>
              <a:t>7. ส่งออก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นอกเส้นทางสัญญาณ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การตั้งค่าที่หน้าเครื่อง — handleMenu() และปุ่มกด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กดปุ่ม Select เปลี่ยนโหมดแบบวนกลับ: menuMode = (menuMode + 1) % 4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โหมด 0 หน้าหลัก · โหมด 1 Conversion Factor ±0.0001 · โหมด 2 Background ±1.0 · โหมด 3 Alert Threshold ±0.1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ทุกโหมดมีเงื่อนไขกันค่าติดลบ คือลดได้เฉพาะเมื่อค่าปัจจุบันมากกว่าศูนย์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readButton() เช็ค digitalRead(pin) == LOW เพราะปุ่มต่อแบบ Active Low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ปุ่มตั้งเป็น INPUT_PULLUP จึงไม่ต้องใส่ตัวต้านทานภายนอก และค่าปกติเป็น HIGH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Consolas"/>
              </a:rPr>
              <a:t>เช็คต่อว่า millis() - lastButtonTime &gt; debounceDelay (200 ms) เพื่อกันหน้าสัมผัสกระเด้ง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600">
                <a:solidFill>
                  <a:srgbClr val="74889B"/>
                </a:solidFill>
                <a:latin typeface="Leelawadee UI"/>
              </a:rPr>
              <a:t>— </a:t>
            </a:r>
            <a:r>
              <a:rPr sz="1600">
                <a:solidFill>
                  <a:srgbClr val="C3D0DC"/>
                </a:solidFill>
                <a:latin typeface="Leelawadee UI"/>
              </a:rPr>
              <a:t>ทั้งสามค่าที่ปรับได้ คือค่าที่ใช้ในขั้นที่ 4 5 และ 6 ของเส้นทางสัญญาณพอดี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ประกอบทั้งหมดเข้าด้วยกัน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setup() เตรียมของ · loop() คือเส้นทางสัญญาณ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Consolas"/>
              </a:rPr>
              <a:t>## setup() ทำงานครั้งเดียวตอนเปิดเครื่อง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Consolas"/>
              </a:rPr>
              <a:t>Serial.begin(9600) ไว้ดีบัก และ bluetooth.begin(9600) ซึ่งเป็น baud rate มาตรฐานของ HC-05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เริ่มจอ OLED ถ้าไม่สำเร็จพิมพ์ SSD1306 allocation failed แล้วหยุดด้วยลูปไม่รู้จบ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Consolas"/>
              </a:rPr>
              <a:t>ตั้ง pinMode ทุกขา แล้วเปิด interrupt ด้วย attachInterrupt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Consolas"/>
              </a:rPr>
              <a:t>## loop() วนตลอดเวลา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Consolas"/>
              </a:rPr>
              <a:t>เรียก handleMenu() ทุกรอบ เพื่อให้ปุ่มตอบสนองไว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500">
                <a:solidFill>
                  <a:srgbClr val="C3D0DC"/>
                </a:solidFill>
                <a:latin typeface="Leelawadee UI"/>
              </a:rPr>
              <a:t>ทุกครบ 10 วินาที เดินขั้นที่ 2 ถึง 7 ตามลำดับ แล้วรีเซ็ตเวลา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5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Consolas"/>
              </a:rPr>
              <a:t>ท้ายลูปมี delay(50) เป็นการถ่วงเวลาให้ปุ่มทำงานได้ทันโดยไม่กินซีพียูทั้งหมด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ภาคผนวก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อุปกรณ์และการต่อสาย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ED9A4"/>
                          </a:solidFill>
                          <a:latin typeface="Leelawadee UI"/>
                        </a:rPr>
                        <a:t>อุปกรณ์</a:t>
                      </a:r>
                    </a:p>
                  </a:txBody>
                  <a:tcPr anchor="ctr">
                    <a:solidFill>
                      <a:srgbClr val="19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ED9A4"/>
                          </a:solidFill>
                          <a:latin typeface="Leelawadee UI"/>
                        </a:rPr>
                        <a:t>ขาสัญญาณ</a:t>
                      </a:r>
                    </a:p>
                  </a:txBody>
                  <a:tcPr anchor="ctr">
                    <a:solidFill>
                      <a:srgbClr val="19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ED9A4"/>
                          </a:solidFill>
                          <a:latin typeface="Leelawadee UI"/>
                        </a:rPr>
                        <a:t>ต่อเข้า Arduino</a:t>
                      </a:r>
                    </a:p>
                  </a:txBody>
                  <a:tcPr anchor="ctr">
                    <a:solidFill>
                      <a:srgbClr val="1923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โมดูลจ่ายแรงดันสูง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Pulse 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Consolas"/>
                        </a:rPr>
                        <a:t>D2  (Interrupt 0)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จอ OLED I2C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SDA / SCL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Consolas"/>
                        </a:rPr>
                        <a:t>A4 / A5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ปุ่ม Select / Up / Down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Consolas"/>
                        </a:rPr>
                        <a:t>D3 / D4 / D5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Buzzer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Signal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Consolas"/>
                        </a:rPr>
                        <a:t>D6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Bluetooth HC-05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Leelawadee UI"/>
                        </a:rPr>
                        <a:t>TX / RX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3D0DC"/>
                          </a:solidFill>
                          <a:latin typeface="Consolas"/>
                        </a:rPr>
                        <a:t>D7 / D8  (SoftwareSerial)</a:t>
                      </a:r>
                    </a:p>
                  </a:txBody>
                  <a:tcPr anchor="ctr">
                    <a:solidFill>
                      <a:srgbClr val="10161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086600" y="1828800"/>
            <a:ext cx="4251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Arduino Pro Mini 5V 16MHz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หลอด LND712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โมดูลจ่ายแรงดันสูง 400-550V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จอ OLED 0.96 นิ้ว SSD1306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Bluetooth HC-05 หรือ HC-06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ปุ่ม Tactile Switch 3 ตัว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Buzzer แบบ Passive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แบต Li-ion 3.7V หรือ Power Bank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300">
                <a:solidFill>
                  <a:srgbClr val="74889B"/>
                </a:solidFill>
                <a:latin typeface="Leelawadee UI"/>
              </a:rPr>
              <a:t>— </a:t>
            </a:r>
            <a:r>
              <a:rPr sz="1300">
                <a:solidFill>
                  <a:srgbClr val="C3D0DC"/>
                </a:solidFill>
                <a:latin typeface="Leelawadee UI"/>
              </a:rPr>
              <a:t>สายไฟ อุปกรณ์บัดกรี เบรดบอร์ด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D9A4"/>
                </a:solidFill>
                <a:latin typeface="Leelawadee UI"/>
              </a:rPr>
              <a:t>ภาคผนวก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4980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CF2F8"/>
                </a:solidFill>
                <a:latin typeface="Leelawadee UI"/>
              </a:rPr>
              <a:t>ทดสอบ ปรับเทียบ แก้ปัญหา และอ้างอิง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36192"/>
            <a:ext cx="10515600" cy="11430"/>
          </a:xfrm>
          <a:prstGeom prst="rect">
            <a:avLst/>
          </a:prstGeom>
          <a:solidFill>
            <a:srgbClr val="28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## การทดสอบและพลังงาน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ทดสอบทีละส่วน ทั้งจอ ปุ่มกด Buzzer และ Bluetooth ก่อนต่อรวม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Pro Mini 20-30 mA + จอ 20 mA + Bluetooth 30 mA รวม 80-100 mA แบต 18650 ใช้ได้ราว 20 ชั่วโมง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## การแก้ปัญหาเบื้องต้น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จอไม่แสดงผล ตรวจ I2C และสแกน address ด้วยโค้ด Scanner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Bluetooth ไม่เชื่อมต่อ ตรวจสาย TX RX และ baud rate 9600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CPM สูงผิดปกติ ตรวจสัญญาณรบกวน ลองเพิ่ม RC filter ที่ขาสัญญาณ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## อ้างอิงที่คู่มือให้ไว้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LND712 Datasheet · DIY Geiger Counter Reference · danjulio/Geiger-Counter บน GitHub · Conversion Factors จาก Apollo-NG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## แนวทางพัฒนาต่อที่คู่มือเสนอ</a:t>
            </a:r>
          </a:p>
          <a:p>
            <a:pPr>
              <a:lnSpc>
                <a:spcPct val="140000"/>
              </a:lnSpc>
              <a:spcAft>
                <a:spcPts val="800"/>
              </a:spcAft>
            </a:pPr>
            <a:r>
              <a:rPr sz="1400">
                <a:solidFill>
                  <a:srgbClr val="74889B"/>
                </a:solidFill>
                <a:latin typeface="Leelawadee UI"/>
              </a:rPr>
              <a:t>— </a:t>
            </a:r>
            <a:r>
              <a:rPr sz="1400">
                <a:solidFill>
                  <a:srgbClr val="C3D0DC"/>
                </a:solidFill>
                <a:latin typeface="Leelawadee UI"/>
              </a:rPr>
              <a:t>บันทึกข้อมูลลง SD Card · แสดงกราฟแนวโน้ม · เพิ่มเซนเซอร์อุณหภูมิและความชื้น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
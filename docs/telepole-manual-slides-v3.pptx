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เปิดด้วยประโยคเดียว: คู่มือเล่มนี้พาสร้างไกเกอร์เคาน์เตอร์ที่วัดรังสีแล้วส่งค่าขึ้นมือถือ</a:t>
            </a:r>
          </a:p>
          <a:p>
            <a:r>
              <a:t>บอกวิธีที่จะเล่า: ผมจะไม่ไล่ตามสารบัญ แต่จะเดินตามสัญญาณเส้นเดียวตั้งแต่รังสีเข้าหลอด</a:t>
            </a:r>
          </a:p>
          <a:p>
            <a:r>
              <a:t>จนถึงเสียงเตือน เพราะทุกบรรทัดในโค้ดอยู่บนเส้นนี้หมด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ชี้ที่โซ่แล้วอ่านจากซ้ายไปขวา: รังสีเข้าหลอด กลายเป็นพัลส์ นับด้วย interrupt</a:t>
            </a:r>
          </a:p>
          <a:p>
            <a:r>
              <a:t>รวมเป็น CPM หักพื้นหลัง คูณ factor ได้ไมโครซีเวิร์ต แล้วเทียบเกณฑ์เตือน</a:t>
            </a:r>
          </a:p>
          <a:p>
            <a:r>
              <a:t>บอกว่า 7 กล่องนี้คือ 7 สไลด์ถัดไป และแถบล่างของทุกหน้าจะบอกว่าอยู่ขั้นไหน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หน้านี้ไว้ตอบล่วงหน้าว่าโค้ดทั้งไฟล์มีอะไรบ้าง จะได้ไม่มีใครสงสัยว่าข้ามอะไรไป</a:t>
            </a:r>
          </a:p>
          <a:p>
            <a:r>
              <a:t>บอกว่าไฟล์เดียวจบ ไม่ได้แยกหลายไฟล์ และมีฟังก์ชัน 8 ตัว</a:t>
            </a:r>
          </a:p>
          <a:p>
            <a:r>
              <a:t>ชี้ที่กล่องขวา แล้วบอกว่าจะเล่าเรียงตามเส้นทางสัญญาณ ไม่ใช่เรียงตามลำดับในไฟล์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เริ่มจากฟิสิกส์ก่อน อย่าเพิ่งเข้าโค้ด</a:t>
            </a:r>
          </a:p>
          <a:p>
            <a:r>
              <a:t>อธิบายว่าหลอดคือหลอดแก๊สที่มีไฟแรงสูงคร่อมอยู่ พอมีอนุภาควิ่งผ่านก็ทำให้แก๊สแตกตัว</a:t>
            </a:r>
          </a:p>
          <a:p>
            <a:r>
              <a:t>เกิดกระแสวูบเดียว ได้พัลส์ออกมาหนึ่งลูก</a:t>
            </a:r>
          </a:p>
          <a:p>
            <a:r>
              <a:t>ย้ำประโยคสำคัญ: หลอดนับได้อย่างเดียว บอกชนิดรังสีไม่ได้ ตรงนี้จะใช้อ้างอิงอีกครั้งตอนขั้นที่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หน้านี้เป็นหน้าที่ต้องเล่าให้ดีที่สุด เพราะเป็นจุดที่แสดงว่าเข้าใจจริง</a:t>
            </a:r>
          </a:p>
          <a:p>
            <a:r>
              <a:t>อ่านโค้ดให้ฟังก่อน แค่ 3 บรรทัด แล้วถามกลับว่าทำไมฟังก์ชันมันสั้นแค่นี้</a:t>
            </a:r>
          </a:p>
          <a:p>
            <a:r>
              <a:t>ตอบเอง: เพราะโค้ดใน interrupt ยิ่งยาวยิ่งเสี่ยงพลาดพัลส์ลูกถัดไป</a:t>
            </a:r>
          </a:p>
          <a:p>
            <a:r>
              <a:t>แล้วอธิบาย volatile ว่าถ้าไม่ใส่ คอมไพเลอร์อาจมองว่าตัวแปรไม่เคยถูกแก้ในลูป แล้ว optimize ทิ้ง</a:t>
            </a:r>
          </a:p>
          <a:p>
            <a:r>
              <a:t>ถ้าอาจารย์ถามว่าทำไมต้อง D2 ตอบว่าชิปมี external interrupt แค่ 2 ขา คือ D2 กับ D3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อธิบาย MULTIPLIER ก่อน: นับ 10 วินาที คูณ 6 ได้ค่าต่อนาที ไม่ต้องรอครบนาที</a:t>
            </a:r>
          </a:p>
          <a:p>
            <a:r>
              <a:t>แล้วเน้นที่ noInterrupts จุดนี้อาจารย์น่าจะถาม</a:t>
            </a:r>
          </a:p>
          <a:p>
            <a:r>
              <a:t>อธิบายว่าอ่านค่ากับรีเซ็ตเป็นคนละคำสั่ง ถ้าพัลส์แทรกตรงกลางจะหายไปเลย</a:t>
            </a:r>
          </a:p>
          <a:p>
            <a:r>
              <a:t>เสริมว่าปิดแค่สองบรรทัดไม่ทำให้พลาดพัลส์ เพราะฮาร์ดแวร์จำไว้ให้ก่อน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บอกว่าโลกเรามีรังสีพื้นหลังตลอดเวลา ประมาณ 15-30 CPM</a:t>
            </a:r>
          </a:p>
          <a:p>
            <a:r>
              <a:t>ถ้าไม่หักออก เครื่องจะขึ้นตัวเลขตลอดทั้งที่ไม่มีแหล่งกำเนิด</a:t>
            </a:r>
          </a:p>
          <a:p>
            <a:r>
              <a:t>อธิบายบรรทัด if adjustedCPM &lt; 0 ว่ากันกรณีวัดได้ต่ำกว่าค่าที่ตั้งไว้ จะได้ไม่ขึ้นค่าติดลบ</a:t>
            </a:r>
          </a:p>
          <a:p>
            <a:r>
              <a:t>ถ้าถูกถามข้อเสีย ตอบว่าถ้าตั้ง background ผิด ค่าที่ได้ผิดหมดและย้อนดูค่าดิบไม่ได้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จุดที่น่าสนใจของหน้านี้คือคู่มือให้มา 3 ค่า ไม่ใช่ค่าเดียว</a:t>
            </a:r>
          </a:p>
          <a:p>
            <a:r>
              <a:t>อธิบายว่าเป็นเพราะหลอด GM ตอบสนองต่างกันตามพลังงานโฟตอน ค่าจึงผูกกับพลังงานอ้างอิง</a:t>
            </a:r>
          </a:p>
          <a:p>
            <a:r>
              <a:t>ย้อนกลับไปที่ขั้นที่ 1: หลอดบอกชนิดรังสีไม่ได้ เลยแปลงเป็นค่าสัมบูรณ์ไม่ได้</a:t>
            </a:r>
          </a:p>
          <a:p>
            <a:r>
              <a:t>สรุปให้ชัด: CPM คือของจริง ไมโครซีเวิร์ตคือค่าเทียบเท่า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ชี้ที่ if (!alertActive) แล้วถามว่าทำไมต้องเช็คก่อน</a:t>
            </a:r>
          </a:p>
          <a:p>
            <a:r>
              <a:t>ตอบว่าถ้าไม่เช็ค พอค่าเกินเกณฑ์ค้างไว้ เสียงจะถูกสั่งใหม่ทุกรอบลูปจนฟังเป็นเสียงรัว</a:t>
            </a:r>
          </a:p>
          <a:p>
            <a:r>
              <a:t>ชี้ที่ else ที่ตั้ง alertActive กลับเป็น false บอกว่านี่คือส่วนที่ทำให้เตือนซ้ำได้ในครั้งถัดไป</a:t>
            </a:r>
          </a:p>
          <a:p>
            <a:r>
              <a:t>สรุปหลักการ: เสียงเตือนผูกกับการเปลี่ยนสถานะ ไม่ใช่ผูกกับรอบลูป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อ่านรูปแบบข้อความที่ส่งออกให้ฟัง cpm เท่ากับเท่าไร ตามด้วย uSv/h</a:t>
            </a:r>
          </a:p>
          <a:p>
            <a:r>
              <a:t>แล้วเน้นที่ snprintf ว่าทำไมไม่ใช้ sprintf</a:t>
            </a:r>
          </a:p>
          <a:p>
            <a:r>
              <a:t>ตอบว่า sprintf ไม่รู้ขนาด buffer ถ้าข้อความยาวเกินจะเขียนทับหน่วยความจำข้างเคียง</a:t>
            </a:r>
          </a:p>
          <a:p>
            <a:r>
              <a:t>บนบอร์ดที่มี RAM แค่ 2 KB อาการคือค้างหรือรีเซ็ตแบบหาสาเหตุไม่เจอ</a:t>
            </a:r>
          </a:p>
          <a:p>
            <a:r>
              <a:t>ส่วน updateDisplay บอกสั้น ๆ ว่าแสดง 4 ค่าบนหน้าเดียว แล้วจบด้วย display.display()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เกริ่นว่าสองฟังก์ชันนี้ไม่ได้อยู่บนเส้นทางสัญญาณ แต่เป็นทางที่ผู้ใช้แก้ค่าได้ที่หน้าเครื่อง</a:t>
            </a:r>
          </a:p>
          <a:p>
            <a:r>
              <a:t>อธิบาย Active Low ว่าทำไมกดแล้วได้ LOW ไม่ใช่ HIGH เพราะตั้ง INPUT_PULLUP</a:t>
            </a:r>
          </a:p>
          <a:p>
            <a:r>
              <a:t>อธิบาย debounce ว่าหน้าสัมผัสจริงมันกระเด้ง กดครั้งเดียวอาจนับได้หลายครั้ง</a:t>
            </a:r>
          </a:p>
          <a:p>
            <a:r>
              <a:t>ชี้ที่ % 4 บอกว่าทำให้เมนูวนกลับเอง ไม่ต้องมีปุ่มถอยหลัง</a:t>
            </a:r>
          </a:p>
          <a:p>
            <a:r>
              <a:t>ปิดท้าย: สามค่าที่ปรับได้ตรงกับขั้นที่ 4 5 6 บนเส้นทางสัญญาณพอดี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ไล่จากบนลงล่าง: เปิด Serial สองตัว เริ่มจอ ตั้งขา แล้วเปิด interrupt</a:t>
            </a:r>
          </a:p>
          <a:p>
            <a:r>
              <a:t>จุดที่ควรชี้คือ for(;;) ถ้าจอเริ่มไม่ได้ โปรแกรมหยุดเลย ไม่เดินต่อ</a:t>
            </a:r>
          </a:p>
          <a:p>
            <a:r>
              <a:t>บอกว่าเป็นการตัดสินใจว่าเครื่องที่ไม่มีจอถือว่าใช้ไม่ได้ ดีกว่าเดินต่อแบบเงียบ ๆ</a:t>
            </a:r>
          </a:p>
          <a:p>
            <a:r>
              <a:t>ถ้ามีเวลาให้พูดถึง F() ว่าย้ายข้อความไปเก็บใน flash แทน 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หน้านี้คือหน้าที่มัดทุกอย่างเข้าด้วยกัน ใช้เวลากับหน้านี้มากหน่อย</a:t>
            </a:r>
          </a:p>
          <a:p>
            <a:r>
              <a:t>ชี้คอมเมนต์ขั้น 3 4 5 6 7 ทางขวาของโค้ด แล้วบอกว่านี่คือเจ็ดขั้นที่เล่ามาทั้งหมด</a:t>
            </a:r>
          </a:p>
          <a:p>
            <a:r>
              <a:t>อธิบายว่าทำไม handleMenu อยู่นอกบล็อก if เพราะปุ่มต้องไว ไม่ใช่รอ 10 วินาที</a:t>
            </a:r>
          </a:p>
          <a:p>
            <a:r>
              <a:t>ปิดท้ายด้วย delay(50) ว่าเป็นการถ่วงเวลาไม่ให้ลูปกินซีพียูทั้งหมด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หน้านี้ไม่ต้องอ่านทีละบรรทัด เปิดผ่านแล้วบอกว่าเป็นหน้าอ้างอิงไว้ตอบคำถาม</a:t>
            </a:r>
          </a:p>
          <a:p>
            <a:r>
              <a:t>ถ้าอาจารย์ถามเรื่องขาไหนต่ออะไร ค่อยเปิดกลับมาหน้านี้</a:t>
            </a:r>
          </a:p>
          <a:p>
            <a:r>
              <a:t>จุดที่ควรรู้ไว้ตอบ: จอ OLED ถ้าเป็นรุ่น 3.3V ต้องใช้ Level Shifter เพราะบอร์ดใช้ลอจิก 5V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หน้าปิด ใช้เวลาสั้น ๆ</a:t>
            </a:r>
          </a:p>
          <a:p>
            <a:r>
              <a:t>บอกว่าคู่มือมีหัวข้อทดสอบและแก้ปัญหาไว้ให้ด้วย และเสนอแนวทางพัฒนาต่อไว้ 3 ข้อ</a:t>
            </a:r>
          </a:p>
          <a:p>
            <a:r>
              <a:t>จบด้วยประโยคสรุป: ทุกตัวเลขในเครื่องนี้ย้อนกลับไปที่การนับพัลส์ได้ทั้งหมด</a:t>
            </a:r>
          </a:p>
          <a:p>
            <a:r>
              <a:t>CPM คือค่าที่วัดได้จริง ส่วนไมโครซีเวิร์ตเป็นค่าเทียบเท่าที่ขึ้นกับค่าสอบเทียบ</a:t>
            </a:r>
          </a:p>
          <a:p>
            <a:r>
              <a:t>แล้วเปิดให้ถาม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82296" cy="1554480"/>
          </a:xfrm>
          <a:prstGeom prst="rect">
            <a:avLst/>
          </a:prstGeom>
          <a:solidFill>
            <a:srgbClr val="4ED9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74519"/>
            <a:ext cx="9875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500" b="1">
                <a:solidFill>
                  <a:srgbClr val="4ED9A4"/>
                </a:solidFill>
                <a:latin typeface="Leelawadee UI"/>
              </a:rPr>
              <a:t>นำเสนอสรุปคู่มือ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4000" b="1">
                <a:solidFill>
                  <a:srgbClr val="ECF2F8"/>
                </a:solidFill>
                <a:latin typeface="Leelawadee UI"/>
              </a:rPr>
              <a:t>ไกเกอร์เคาน์เตอร์ LND712 ทำงานอย่างไร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700" b="0">
                <a:solidFill>
                  <a:srgbClr val="74889B"/>
                </a:solidFill>
                <a:latin typeface="Leelawadee UI"/>
              </a:rPr>
              <a:t>เดินตามสัญญาณหนึ่งเส้น ตั้งแต่รังสีเข้าหลอด จนถึงตัวเลขบนจอและเสียงเตือน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ED9A4"/>
                </a:solidFill>
                <a:latin typeface="Leelawadee UI"/>
              </a:rPr>
              <a:t>โครงเรื่อง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CF2F8"/>
                </a:solidFill>
                <a:latin typeface="Leelawadee UI"/>
              </a:rPr>
              <a:t>ทุกอย่างในเครื่องนี้อยู่บนสัญญาณเส้นเดียว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26464"/>
            <a:ext cx="10607040" cy="11430"/>
          </a:xfrm>
          <a:prstGeom prst="rect">
            <a:avLst/>
          </a:prstGeom>
          <a:solidFill>
            <a:srgbClr val="28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240280"/>
            <a:ext cx="1316736" cy="1371600"/>
          </a:xfrm>
          <a:prstGeom prst="roundRect">
            <a:avLst/>
          </a:prstGeom>
          <a:solidFill>
            <a:srgbClr val="19232E"/>
          </a:solidFill>
          <a:ln w="12700">
            <a:solidFill>
              <a:srgbClr val="4ED9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CF2F8"/>
                </a:solidFill>
                <a:latin typeface="Leelawadee UI"/>
              </a:rPr>
              <a:t>รังสี</a:t>
            </a:r>
          </a:p>
          <a:p>
            <a:r>
              <a:rPr sz="950">
                <a:solidFill>
                  <a:srgbClr val="74889B"/>
                </a:solidFill>
                <a:latin typeface="Leelawadee UI"/>
              </a:rPr>
              <a:t>อนุภาคผ่านหลอด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93976" y="2697480"/>
            <a:ext cx="30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ED9A4"/>
                </a:solidFill>
                <a:latin typeface="Consolas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95728" y="2240280"/>
            <a:ext cx="1316736" cy="1371600"/>
          </a:xfrm>
          <a:prstGeom prst="roundRect">
            <a:avLst/>
          </a:prstGeom>
          <a:solidFill>
            <a:srgbClr val="19232E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CF2F8"/>
                </a:solidFill>
                <a:latin typeface="Leelawadee UI"/>
              </a:rPr>
              <a:t>พัลส์</a:t>
            </a:r>
          </a:p>
          <a:p>
            <a:r>
              <a:rPr sz="950">
                <a:solidFill>
                  <a:srgbClr val="74889B"/>
                </a:solidFill>
                <a:latin typeface="Leelawadee UI"/>
              </a:rPr>
              <a:t>0-5V เข้าขา D2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2464" y="2697480"/>
            <a:ext cx="30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ED9A4"/>
                </a:solidFill>
                <a:latin typeface="Consolas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14216" y="2240280"/>
            <a:ext cx="1316736" cy="1371600"/>
          </a:xfrm>
          <a:prstGeom prst="roundRect">
            <a:avLst/>
          </a:prstGeom>
          <a:solidFill>
            <a:srgbClr val="19232E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CF2F8"/>
                </a:solidFill>
                <a:latin typeface="Leelawadee UI"/>
              </a:rPr>
              <a:t>นับ</a:t>
            </a:r>
          </a:p>
          <a:p>
            <a:r>
              <a:rPr sz="950">
                <a:solidFill>
                  <a:srgbClr val="74889B"/>
                </a:solidFill>
                <a:latin typeface="Leelawadee UI"/>
              </a:rPr>
              <a:t>interrupt เก็บจำนวน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0952" y="2697480"/>
            <a:ext cx="30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ED9A4"/>
                </a:solidFill>
                <a:latin typeface="Consolas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32704" y="2240280"/>
            <a:ext cx="1316736" cy="1371600"/>
          </a:xfrm>
          <a:prstGeom prst="roundRect">
            <a:avLst/>
          </a:prstGeom>
          <a:solidFill>
            <a:srgbClr val="19232E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CF2F8"/>
                </a:solidFill>
                <a:latin typeface="Leelawadee UI"/>
              </a:rPr>
              <a:t>CPM</a:t>
            </a:r>
          </a:p>
          <a:p>
            <a:r>
              <a:rPr sz="950">
                <a:solidFill>
                  <a:srgbClr val="74889B"/>
                </a:solidFill>
                <a:latin typeface="Leelawadee UI"/>
              </a:rPr>
              <a:t>x6 ทุก 10 วินาที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697480"/>
            <a:ext cx="30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ED9A4"/>
                </a:solidFill>
                <a:latin typeface="Consolas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51192" y="2240280"/>
            <a:ext cx="1316736" cy="1371600"/>
          </a:xfrm>
          <a:prstGeom prst="roundRect">
            <a:avLst/>
          </a:prstGeom>
          <a:solidFill>
            <a:srgbClr val="19232E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CF2F8"/>
                </a:solidFill>
                <a:latin typeface="Leelawadee UI"/>
              </a:rPr>
              <a:t>หัก BG</a:t>
            </a:r>
          </a:p>
          <a:p>
            <a:r>
              <a:rPr sz="950">
                <a:solidFill>
                  <a:srgbClr val="74889B"/>
                </a:solidFill>
                <a:latin typeface="Leelawadee UI"/>
              </a:rPr>
              <a:t>ลบรังสีพื้นหลัง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7928" y="2697480"/>
            <a:ext cx="30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ED9A4"/>
                </a:solidFill>
                <a:latin typeface="Consolas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2240280"/>
            <a:ext cx="1316736" cy="1371600"/>
          </a:xfrm>
          <a:prstGeom prst="roundRect">
            <a:avLst/>
          </a:prstGeom>
          <a:solidFill>
            <a:srgbClr val="19232E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CF2F8"/>
                </a:solidFill>
                <a:latin typeface="Leelawadee UI"/>
              </a:rPr>
              <a:t>uSv/h</a:t>
            </a:r>
          </a:p>
          <a:p>
            <a:r>
              <a:rPr sz="950">
                <a:solidFill>
                  <a:srgbClr val="74889B"/>
                </a:solidFill>
                <a:latin typeface="Leelawadee UI"/>
              </a:rPr>
              <a:t>x conversion factor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86416" y="2697480"/>
            <a:ext cx="30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ED9A4"/>
                </a:solidFill>
                <a:latin typeface="Consolas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88168" y="2240280"/>
            <a:ext cx="1316736" cy="1371600"/>
          </a:xfrm>
          <a:prstGeom prst="roundRect">
            <a:avLst/>
          </a:prstGeom>
          <a:solidFill>
            <a:srgbClr val="19232E"/>
          </a:solidFill>
          <a:ln w="12700">
            <a:solidFill>
              <a:srgbClr val="4ED9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CF2F8"/>
                </a:solidFill>
                <a:latin typeface="Leelawadee UI"/>
              </a:rPr>
              <a:t>เตือน</a:t>
            </a:r>
          </a:p>
          <a:p>
            <a:r>
              <a:rPr sz="950">
                <a:solidFill>
                  <a:srgbClr val="74889B"/>
                </a:solidFill>
                <a:latin typeface="Leelawadee UI"/>
              </a:rPr>
              <a:t>เทียบ 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77639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8000"/>
              </a:lnSpc>
              <a:spcAft>
                <a:spcPts val="700"/>
              </a:spcAft>
            </a:pPr>
            <a:r>
              <a:rPr sz="1500">
                <a:solidFill>
                  <a:srgbClr val="74889B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Leelawadee UI"/>
              </a:rPr>
              <a:t>สไลด์ต่อจากนี้ไล่ทีละขั้น พร้อมโค้ดจริงจากคู่มือที่รับผิดชอบขั้นนั้น</a:t>
            </a:r>
          </a:p>
          <a:p>
            <a:pPr>
              <a:lnSpc>
                <a:spcPct val="138000"/>
              </a:lnSpc>
              <a:spcAft>
                <a:spcPts val="700"/>
              </a:spcAft>
            </a:pPr>
            <a:r>
              <a:rPr sz="1500">
                <a:solidFill>
                  <a:srgbClr val="74889B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Leelawadee UI"/>
              </a:rPr>
              <a:t>กล่องสีเหลืองด้านขวาคือเหตุผลว่าทำไมคู่มือถึงเขียนแบบนั้น ซึ่งคู่มือไม่ได้อธิบายไว้</a:t>
            </a:r>
          </a:p>
          <a:p>
            <a:pPr>
              <a:lnSpc>
                <a:spcPct val="138000"/>
              </a:lnSpc>
              <a:spcAft>
                <a:spcPts val="700"/>
              </a:spcAft>
            </a:pPr>
            <a:r>
              <a:rPr sz="1500">
                <a:solidFill>
                  <a:srgbClr val="74889B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Leelawadee UI"/>
              </a:rPr>
              <a:t>รายการอุปกรณ์ ตารางขา และการแก้ปัญหา อยู่ในภาคผนวกท้ายเล่ม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ED9A4"/>
                </a:solidFill>
                <a:latin typeface="Leelawadee UI"/>
              </a:rPr>
              <a:t>ก่อนเข้าโค้ด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CF2F8"/>
                </a:solidFill>
                <a:latin typeface="Leelawadee UI"/>
              </a:rPr>
              <a:t>โครงสร้างของไฟล์ sketch ทั้งไฟล์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26464"/>
            <a:ext cx="10607040" cy="11430"/>
          </a:xfrm>
          <a:prstGeom prst="rect">
            <a:avLst/>
          </a:prstGeom>
          <a:solidFill>
            <a:srgbClr val="28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64208"/>
            <a:ext cx="6400800" cy="4315968"/>
          </a:xfrm>
          <a:prstGeom prst="roundRect">
            <a:avLst/>
          </a:prstGeom>
          <a:solidFill>
            <a:srgbClr val="0B1117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773936"/>
            <a:ext cx="59984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ED9A4"/>
                </a:solidFill>
                <a:latin typeface="Consolas"/>
              </a:rPr>
              <a:t>telepole_gm.ino — ภาพรวม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084832"/>
            <a:ext cx="5998464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50">
                <a:solidFill>
                  <a:srgbClr val="C3D0DC"/>
                </a:solidFill>
                <a:latin typeface="Consolas"/>
              </a:rPr>
              <a:t>#include &lt;Wire.h&gt;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50">
                <a:solidFill>
                  <a:srgbClr val="C3D0DC"/>
                </a:solidFill>
                <a:latin typeface="Consolas"/>
              </a:rPr>
              <a:t>#include &lt;Adafruit_SSD1306.h&gt;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50">
                <a:solidFill>
                  <a:srgbClr val="C3D0DC"/>
                </a:solidFill>
                <a:latin typeface="Consolas"/>
              </a:rPr>
              <a:t>#include &lt;Adafruit_GFX.h&gt;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50">
                <a:solidFill>
                  <a:srgbClr val="C3D0DC"/>
                </a:solidFill>
                <a:latin typeface="Consolas"/>
              </a:rPr>
              <a:t>#include &lt;SoftwareSerial.h&gt;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50">
                <a:solidFill>
                  <a:srgbClr val="C3D0DC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50">
                <a:solidFill>
                  <a:srgbClr val="74889B"/>
                </a:solidFill>
                <a:latin typeface="Consolas"/>
              </a:rPr>
              <a:t>// ตั้งค่าหน้าจอ OLED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50">
                <a:solidFill>
                  <a:srgbClr val="C3D0DC"/>
                </a:solidFill>
                <a:latin typeface="Consolas"/>
              </a:rPr>
              <a:t>#define SCREEN_WIDTH 128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50">
                <a:solidFill>
                  <a:srgbClr val="C3D0DC"/>
                </a:solidFill>
                <a:latin typeface="Consolas"/>
              </a:rPr>
              <a:t>#define SCREEN_HEIGHT 64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50">
                <a:solidFill>
                  <a:srgbClr val="C3D0DC"/>
                </a:solidFill>
                <a:latin typeface="Consolas"/>
              </a:rPr>
              <a:t>#define OLED_ADDR 0x3C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50">
                <a:solidFill>
                  <a:srgbClr val="C3D0DC"/>
                </a:solidFill>
                <a:latin typeface="Consolas"/>
              </a:rPr>
              <a:t>Adafruit_SSD1306 display(SCREEN_WIDTH, SCREEN_HEIGHT, &amp;Wire, -1);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50">
                <a:solidFill>
                  <a:srgbClr val="C3D0DC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50">
                <a:solidFill>
                  <a:srgbClr val="74889B"/>
                </a:solidFill>
                <a:latin typeface="Consolas"/>
              </a:rPr>
              <a:t>// กำหนดขาต่ออุปกรณ์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50">
                <a:solidFill>
                  <a:srgbClr val="C3D0DC"/>
                </a:solidFill>
                <a:latin typeface="Consolas"/>
              </a:rPr>
              <a:t>#define GEIGER_PIN 2    // พัลส์จากโมดูล HV (interrupt 0)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50">
                <a:solidFill>
                  <a:srgbClr val="C3D0DC"/>
                </a:solidFill>
                <a:latin typeface="Consolas"/>
              </a:rPr>
              <a:t>#define BUTTON_SEL 3    #define BUTTON_UP 4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50">
                <a:solidFill>
                  <a:srgbClr val="C3D0DC"/>
                </a:solidFill>
                <a:latin typeface="Consolas"/>
              </a:rPr>
              <a:t>#define BUTTON_DN 5     #define BUZZER_PIN 6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50">
                <a:solidFill>
                  <a:srgbClr val="C3D0DC"/>
                </a:solidFill>
                <a:latin typeface="Consolas"/>
              </a:rPr>
              <a:t>#define BT_RX 7         #define BT_TX 8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50">
                <a:solidFill>
                  <a:srgbClr val="C3D0DC"/>
                </a:solidFill>
                <a:latin typeface="Consolas"/>
              </a:rPr>
              <a:t>SoftwareSerial bluetooth(BT_RX, BT_TX);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50">
                <a:solidFill>
                  <a:srgbClr val="C3D0DC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50">
                <a:solidFill>
                  <a:srgbClr val="74889B"/>
                </a:solidFill>
                <a:latin typeface="Consolas"/>
              </a:rPr>
              <a:t>// ฟังก์ชันทั้งหมดในไฟล์ มี 8 ตัว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50">
                <a:solidFill>
                  <a:srgbClr val="C3D0DC"/>
                </a:solidFill>
                <a:latin typeface="Consolas"/>
              </a:rPr>
              <a:t>countPulse()   readButton()   triggerAlert()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50">
                <a:solidFill>
                  <a:srgbClr val="C3D0DC"/>
                </a:solidFill>
                <a:latin typeface="Consolas"/>
              </a:rPr>
              <a:t>updateDisplay()   sendBluetoothData()   handleMenu()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50">
                <a:solidFill>
                  <a:srgbClr val="C3D0DC"/>
                </a:solidFill>
                <a:latin typeface="Consolas"/>
              </a:rPr>
              <a:t>setup()   loop()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664208"/>
            <a:ext cx="3977639" cy="4315968"/>
          </a:xfrm>
          <a:prstGeom prst="roundRect">
            <a:avLst/>
          </a:prstGeom>
          <a:solidFill>
            <a:srgbClr val="19232E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44384" y="1828800"/>
            <a:ext cx="3502151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F5B34A"/>
                </a:solidFill>
                <a:latin typeface="Leelawadee UI"/>
              </a:rPr>
              <a:t>ฟังก์ชัน 8 ตัว แบ่งได้ 3 กลุ่ม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กลุ่มที่ 1 อยู่บนเส้นทางสัญญาณ — countPulse, triggerAlert, updateDisplay, sendBluetoothData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กลุ่มที่ 2 รับคำสั่งจากผู้ใช้ — readButton, handleMenu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กลุ่มที่ 3 โครงของโปรแกรม — setup ทำครั้งเดียว, loop วนตลอด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สไลด์ต่อจากนี้จะไล่ครบทั้ง 8 ตัว ไม่มีตกหล่น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ED9A4"/>
                </a:solidFill>
                <a:latin typeface="Leelawadee UI"/>
              </a:rPr>
              <a:t>ขั้นที่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CF2F8"/>
                </a:solidFill>
                <a:latin typeface="Leelawadee UI"/>
              </a:rPr>
              <a:t>จากรังสีกลายเป็นพัลส์ไฟฟ้า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26464"/>
            <a:ext cx="10607040" cy="11430"/>
          </a:xfrm>
          <a:prstGeom prst="rect">
            <a:avLst/>
          </a:prstGeom>
          <a:solidFill>
            <a:srgbClr val="28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8000"/>
              </a:lnSpc>
              <a:spcAft>
                <a:spcPts val="700"/>
              </a:spcAft>
            </a:pPr>
            <a:r>
              <a:rPr sz="1500">
                <a:solidFill>
                  <a:srgbClr val="74889B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Leelawadee UI"/>
              </a:rPr>
              <a:t>หลอด LND712 บรรจุแก๊ส มีขั้วไฟฟ้าต่างศักย์กัน ต้องการแรงดัน 450-650V</a:t>
            </a:r>
          </a:p>
          <a:p>
            <a:pPr>
              <a:lnSpc>
                <a:spcPct val="138000"/>
              </a:lnSpc>
              <a:spcAft>
                <a:spcPts val="700"/>
              </a:spcAft>
            </a:pPr>
            <a:r>
              <a:rPr sz="1500">
                <a:solidFill>
                  <a:srgbClr val="74889B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Leelawadee UI"/>
              </a:rPr>
              <a:t>อนุภาครังสีผ่านเข้าไป ทำให้แก๊สแตกตัว เกิดการนำไฟฟ้าชั่วขณะ</a:t>
            </a:r>
          </a:p>
          <a:p>
            <a:pPr>
              <a:lnSpc>
                <a:spcPct val="138000"/>
              </a:lnSpc>
              <a:spcAft>
                <a:spcPts val="700"/>
              </a:spcAft>
            </a:pPr>
            <a:r>
              <a:rPr sz="1500">
                <a:solidFill>
                  <a:srgbClr val="74889B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Leelawadee UI"/>
              </a:rPr>
              <a:t>ได้พัลส์แรงดันสั้นมาก หนึ่งลูกต่อหนึ่งอนุภาค</a:t>
            </a:r>
          </a:p>
          <a:p>
            <a:pPr>
              <a:lnSpc>
                <a:spcPct val="138000"/>
              </a:lnSpc>
              <a:spcAft>
                <a:spcPts val="700"/>
              </a:spcAft>
            </a:pPr>
            <a:r>
              <a:rPr sz="1500">
                <a:solidFill>
                  <a:srgbClr val="74889B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Leelawadee UI"/>
              </a:rPr>
              <a:t>โมดูลจ่ายแรงดันสูงจัดรูปพัลส์ให้เป็นสัญญาณ TTL 0-5V ก่อนส่งเข้า Arduino</a:t>
            </a:r>
          </a:p>
          <a:p>
            <a:pPr>
              <a:lnSpc>
                <a:spcPct val="138000"/>
              </a:lnSpc>
              <a:spcAft>
                <a:spcPts val="700"/>
              </a:spcAft>
            </a:pPr>
            <a:r>
              <a:rPr sz="1500">
                <a:solidFill>
                  <a:srgbClr val="74889B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Leelawadee UI"/>
              </a:rPr>
              <a:t>คู่มือแนะนำให้ตั้งแรงดันไว้ประมาณ 500V</a:t>
            </a:r>
          </a:p>
          <a:p>
            <a:pPr>
              <a:lnSpc>
                <a:spcPct val="138000"/>
              </a:lnSpc>
              <a:spcAft>
                <a:spcPts val="700"/>
              </a:spcAft>
            </a:pPr>
            <a:r>
              <a:rPr sz="1500">
                <a:solidFill>
                  <a:srgbClr val="74889B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Leelawadee UI"/>
              </a:rPr>
              <a:t>ขั้นนี้ยังไม่มีโค้ด เป็นฮาร์ดแวร์ล้วน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664208"/>
            <a:ext cx="3977639" cy="4315968"/>
          </a:xfrm>
          <a:prstGeom prst="roundRect">
            <a:avLst/>
          </a:prstGeom>
          <a:solidFill>
            <a:srgbClr val="19232E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44384" y="1828800"/>
            <a:ext cx="3502151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F5B34A"/>
                </a:solidFill>
                <a:latin typeface="Leelawadee UI"/>
              </a:rPr>
              <a:t>ข้อจำกัดที่ต้องรู้ตั้งแต่ต้น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หลอด GM บอกได้แค่ว่ามีอนุภาคผ่าน ไม่ได้บอกว่าเป็นรังสีชนิดใดหรือพลังงานเท่าไร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ทุกตัวเลขที่เหลือในเครื่องนี้จึงเป็นการตีความจากการนับล้วน ๆ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คู่มือเตือนว่า 400-550V เป็นอันตราย ต้องหุ้มฉนวนและระวังขณะต่อวงจร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6199632"/>
            <a:ext cx="1399032" cy="310896"/>
          </a:xfrm>
          <a:prstGeom prst="roundRect">
            <a:avLst/>
          </a:prstGeom>
          <a:solidFill>
            <a:srgbClr val="4ED9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>
                <a:solidFill>
                  <a:srgbClr val="10161D"/>
                </a:solidFill>
                <a:latin typeface="Leelawadee UI"/>
              </a:rPr>
              <a:t>1. พัลส์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76856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2. นับ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76472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3. CPM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76088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4. หัก BG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75704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5. µSv/h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6. เตือน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74936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7. ส่งออก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ED9A4"/>
                </a:solidFill>
                <a:latin typeface="Leelawadee UI"/>
              </a:rPr>
              <a:t>ขั้นที่ 2 · countPulse()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CF2F8"/>
                </a:solidFill>
                <a:latin typeface="Leelawadee UI"/>
              </a:rPr>
              <a:t>จับพัลส์ให้ครบด้วย Interrupt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26464"/>
            <a:ext cx="10607040" cy="11430"/>
          </a:xfrm>
          <a:prstGeom prst="rect">
            <a:avLst/>
          </a:prstGeom>
          <a:solidFill>
            <a:srgbClr val="28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64208"/>
            <a:ext cx="6400800" cy="4315968"/>
          </a:xfrm>
          <a:prstGeom prst="roundRect">
            <a:avLst/>
          </a:prstGeom>
          <a:solidFill>
            <a:srgbClr val="0B1117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773936"/>
            <a:ext cx="59984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ED9A4"/>
                </a:solidFill>
                <a:latin typeface="Consolas"/>
              </a:rPr>
              <a:t>countPulse() และการตั้งค่าใน setup()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084832"/>
            <a:ext cx="5998464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volatile unsigned long pulseCount = 0;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74889B"/>
                </a:solidFill>
                <a:latin typeface="Consolas"/>
              </a:rPr>
              <a:t>// ฟังก์ชัน Interrupt: ทำงานทุกครั้งที่เกิดพัลส์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void countPulse() {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  pulseCount++;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}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74889B"/>
                </a:solidFill>
                <a:latin typeface="Consolas"/>
              </a:rPr>
              <a:t>// ใน setup()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pinMode(GEIGER_PIN, INPUT);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attachInterrupt(digitalPinToInterrupt(GEIGER_PIN),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                countPulse, RISING);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664208"/>
            <a:ext cx="3977639" cy="4315968"/>
          </a:xfrm>
          <a:prstGeom prst="roundRect">
            <a:avLst/>
          </a:prstGeom>
          <a:solidFill>
            <a:srgbClr val="19232E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44384" y="1828800"/>
            <a:ext cx="3502151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F5B34A"/>
                </a:solidFill>
                <a:latin typeface="Leelawadee UI"/>
              </a:rPr>
              <a:t>ทำไมต้องเป็นแบบนี้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พัลส์กว้างระดับไมโครวินาที ถ้าใช้ digitalRead ในลูปปกติจะอ่านไม่ทันและนับตกหล่น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ATmega328P มี external interrupt แค่ 2 ช่อง คือ D2 และ D3 จึงบังคับว่าสัญญาณต้องเข้าขานี้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โค้ดใน interrupt ยิ่งยาวยิ่งเสี่ยงพลาดพัลส์ลูกถัดไป จึงเหลือแค่บวกหนึ่ง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volatile บอกคอมไพเลอร์ว่าค่าถูกแก้จากนอกลูป ห้าม optimize ทิ้ง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1. พัลส์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76856" y="6199632"/>
            <a:ext cx="1399032" cy="310896"/>
          </a:xfrm>
          <a:prstGeom prst="roundRect">
            <a:avLst/>
          </a:prstGeom>
          <a:solidFill>
            <a:srgbClr val="4ED9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>
                <a:solidFill>
                  <a:srgbClr val="10161D"/>
                </a:solidFill>
                <a:latin typeface="Leelawadee UI"/>
              </a:rPr>
              <a:t>2. นับ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76472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3. CPM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76088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4. หัก BG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5. µSv/h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6. เตือน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74936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7. ส่งออก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ED9A4"/>
                </a:solidFill>
                <a:latin typeface="Leelawadee UI"/>
              </a:rPr>
              <a:t>ขั้นที่ 3 · loop()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CF2F8"/>
                </a:solidFill>
                <a:latin typeface="Leelawadee UI"/>
              </a:rPr>
              <a:t>นับสะสมแล้วแปลงเป็น CPM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26464"/>
            <a:ext cx="10607040" cy="11430"/>
          </a:xfrm>
          <a:prstGeom prst="rect">
            <a:avLst/>
          </a:prstGeom>
          <a:solidFill>
            <a:srgbClr val="28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64208"/>
            <a:ext cx="6400800" cy="4315968"/>
          </a:xfrm>
          <a:prstGeom prst="roundRect">
            <a:avLst/>
          </a:prstGeom>
          <a:solidFill>
            <a:srgbClr val="0B1117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773936"/>
            <a:ext cx="59984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ED9A4"/>
                </a:solidFill>
                <a:latin typeface="Consolas"/>
              </a:rPr>
              <a:t>ส่วนคำนวณใน loop()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084832"/>
            <a:ext cx="5998464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const unsigned long SAMPLE_TIME = 10000;   // 10 วินาที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const float MULTIPLIER = 60000.0 / SAMPLE_TIME;   // = 6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if (millis() - lastSampleTime &gt;= SAMPLE_TIME) {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74889B"/>
                </a:solidFill>
                <a:latin typeface="Consolas"/>
              </a:rPr>
              <a:t>  // ปิด Interrupt ชั่วคราวขณะอ่านค่า pulseCount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  noInterrupts();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  unsigned long counts = pulseCount;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  pulseCount = 0;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  interrupts();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  cpm = counts * MULTIPLIER;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  ...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664208"/>
            <a:ext cx="3977639" cy="4315968"/>
          </a:xfrm>
          <a:prstGeom prst="roundRect">
            <a:avLst/>
          </a:prstGeom>
          <a:solidFill>
            <a:srgbClr val="19232E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44384" y="1828800"/>
            <a:ext cx="3502151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F5B34A"/>
                </a:solidFill>
                <a:latin typeface="Leelawadee UI"/>
              </a:rPr>
              <a:t>ทำไมต้องปิด Interrupt ชั่วคราว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การอ่านค่าแล้วรีเซ็ตเป็นสองคำสั่ง ไม่ใช่คำสั่งเดียว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ถ้าพัลส์เข้ามาระหว่างสองคำสั่งนั้น มันจะถูกนับแล้วโดนล้างทิ้งทันที คือหายไปเลย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ปิดแค่สองบรรทัดจึงไม่ทำให้พลาดพัลส์ เพราะฮาร์ดแวร์จำสถานะค้างไว้ให้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คู่มือเลือก 10 วินาทีเพื่อให้ตัวเลขขึ้นเร็ว ไม่ต้องรอครบนาที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1. พัลส์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76856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2. นับ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76472" y="6199632"/>
            <a:ext cx="1399032" cy="310896"/>
          </a:xfrm>
          <a:prstGeom prst="roundRect">
            <a:avLst/>
          </a:prstGeom>
          <a:solidFill>
            <a:srgbClr val="4ED9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>
                <a:solidFill>
                  <a:srgbClr val="10161D"/>
                </a:solidFill>
                <a:latin typeface="Leelawadee UI"/>
              </a:rPr>
              <a:t>3. CPM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76088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4. หัก BG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5. µSv/h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6. เตือน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74936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7. ส่งออก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ED9A4"/>
                </a:solidFill>
                <a:latin typeface="Leelawadee UI"/>
              </a:rPr>
              <a:t>ขั้นที่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CF2F8"/>
                </a:solidFill>
                <a:latin typeface="Leelawadee UI"/>
              </a:rPr>
              <a:t>หักค่ารังสีพื้นหลังออก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26464"/>
            <a:ext cx="10607040" cy="11430"/>
          </a:xfrm>
          <a:prstGeom prst="rect">
            <a:avLst/>
          </a:prstGeom>
          <a:solidFill>
            <a:srgbClr val="28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64208"/>
            <a:ext cx="6400800" cy="4315968"/>
          </a:xfrm>
          <a:prstGeom prst="roundRect">
            <a:avLst/>
          </a:prstGeom>
          <a:solidFill>
            <a:srgbClr val="0B1117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773936"/>
            <a:ext cx="59984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ED9A4"/>
                </a:solidFill>
                <a:latin typeface="Consolas"/>
              </a:rPr>
              <a:t>ส่วนหักพื้นหลังใน loop()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084832"/>
            <a:ext cx="5998464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const float DEFAULT_BACKGROUND = 20.0;   // CPM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float background = DEFAULT_BACKGROUND;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float adjustedCPM = cpm - background;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if (adjustedCPM &lt; 0) adjustedCPM = 0;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74889B"/>
                </a:solidFill>
                <a:latin typeface="Consolas"/>
              </a:rPr>
              <a:t>// สูตรตามคู่มือ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74889B"/>
                </a:solidFill>
                <a:latin typeface="Consolas"/>
              </a:rPr>
              <a:t>// Adjusted_CPM = CPM - Background_CPM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74889B"/>
                </a:solidFill>
                <a:latin typeface="Consolas"/>
              </a:rPr>
              <a:t>// ถ้าติดลบ ให้แสดง 0 CPM / 0.00 uSv/h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664208"/>
            <a:ext cx="3977639" cy="4315968"/>
          </a:xfrm>
          <a:prstGeom prst="roundRect">
            <a:avLst/>
          </a:prstGeom>
          <a:solidFill>
            <a:srgbClr val="19232E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44384" y="1828800"/>
            <a:ext cx="3502151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F5B34A"/>
                </a:solidFill>
                <a:latin typeface="Leelawadee UI"/>
              </a:rPr>
              <a:t>ผลของการหักตรงนี้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คู่มือระบุว่ารังสีพื้นหลังจริงอยู่ราว 15-30 CPM ขึ้นกับสถานที่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วิธีหาค่า วัดในที่ที่ไม่มีแหล่งรังสีเพิ่มเติม 10-15 นาที แล้วเฉลี่ย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ตัวเลขที่เห็นจะสะท้อนเฉพาะรังสีที่เพิ่มมาจากแหล่งกำเนิด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ถ้าตั้งค่าพื้นหลังผิด ตัวเลขจะผิดตามไปทั้งหมด และย้อนดูค่าดิบไม่ได้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1. พัลส์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76856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2. นับ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76472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3. CPM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76088" y="6199632"/>
            <a:ext cx="1399032" cy="310896"/>
          </a:xfrm>
          <a:prstGeom prst="roundRect">
            <a:avLst/>
          </a:prstGeom>
          <a:solidFill>
            <a:srgbClr val="4ED9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>
                <a:solidFill>
                  <a:srgbClr val="10161D"/>
                </a:solidFill>
                <a:latin typeface="Leelawadee UI"/>
              </a:rPr>
              <a:t>4. หัก BG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5. µSv/h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6. เตือน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74936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7. ส่งออก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ED9A4"/>
                </a:solidFill>
                <a:latin typeface="Leelawadee UI"/>
              </a:rPr>
              <a:t>ขั้นที่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CF2F8"/>
                </a:solidFill>
                <a:latin typeface="Leelawadee UI"/>
              </a:rPr>
              <a:t>แปลง CPM เป็นไมโครซีเวิร์ตต่อชั่วโมง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26464"/>
            <a:ext cx="10607040" cy="11430"/>
          </a:xfrm>
          <a:prstGeom prst="rect">
            <a:avLst/>
          </a:prstGeom>
          <a:solidFill>
            <a:srgbClr val="28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64208"/>
            <a:ext cx="6400800" cy="4315968"/>
          </a:xfrm>
          <a:prstGeom prst="roundRect">
            <a:avLst/>
          </a:prstGeom>
          <a:solidFill>
            <a:srgbClr val="0B1117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773936"/>
            <a:ext cx="59984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ED9A4"/>
                </a:solidFill>
                <a:latin typeface="Consolas"/>
              </a:rPr>
              <a:t>ส่วนแปลงหน่วย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084832"/>
            <a:ext cx="5998464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const float DEFAULT_CONV_FACTOR = 0.00833;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float convFactor = DEFAULT_CONV_FACTOR;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doseRate = adjustedCPM * convFactor;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74889B"/>
                </a:solidFill>
                <a:latin typeface="Consolas"/>
              </a:rPr>
              <a:t>// ค่าที่คู่มือระบุไว้สำหรับ LND712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74889B"/>
                </a:solidFill>
                <a:latin typeface="Consolas"/>
              </a:rPr>
              <a:t>// 0.00833  จากโปรเจกต์ของ danjulio บน ESP32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74889B"/>
                </a:solidFill>
                <a:latin typeface="Consolas"/>
              </a:rPr>
              <a:t>// 0.00926  = 108 CPM ต่อ 1 uSv/h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74889B"/>
                </a:solidFill>
                <a:latin typeface="Consolas"/>
              </a:rPr>
              <a:t>// 0.00233  จากตาราง Conversion Factors บางชุด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664208"/>
            <a:ext cx="3977639" cy="4315968"/>
          </a:xfrm>
          <a:prstGeom prst="roundRect">
            <a:avLst/>
          </a:prstGeom>
          <a:solidFill>
            <a:srgbClr val="19232E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44384" y="1828800"/>
            <a:ext cx="3502151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F5B34A"/>
                </a:solidFill>
                <a:latin typeface="Leelawadee UI"/>
              </a:rPr>
              <a:t>ทำไมค่าถึงไม่ตรงกัน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หลอด GM ตอบสนองต่างกันตามพลังงานโฟตอน ค่าจึงผูกกับพลังงานอ้างอิงที่ใช้วัด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CPM คือค่าที่วัดได้จริง ส่วนไมโครซีเวิร์ตเป็นค่าเทียบเท่าที่ขึ้นกับสมมติฐาน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คู่มือจึงบอกว่าควรสอบเทียบกับเครื่องมือมาตรฐานหากมีความจำเป็น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และทำปุ่มให้แก้ค่านี้ได้ที่หน้าเครื่อง ไม่ต้อง flash ใหม่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1. พัลส์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76856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2. นับ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76472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3. CPM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76088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4. หัก BG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6199632"/>
            <a:ext cx="1399032" cy="310896"/>
          </a:xfrm>
          <a:prstGeom prst="roundRect">
            <a:avLst/>
          </a:prstGeom>
          <a:solidFill>
            <a:srgbClr val="4ED9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>
                <a:solidFill>
                  <a:srgbClr val="10161D"/>
                </a:solidFill>
                <a:latin typeface="Leelawadee UI"/>
              </a:rPr>
              <a:t>5. µSv/h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6. เตือน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74936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7. ส่งออก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ED9A4"/>
                </a:solidFill>
                <a:latin typeface="Leelawadee UI"/>
              </a:rPr>
              <a:t>ขั้นที่ 6 · triggerAlert()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CF2F8"/>
                </a:solidFill>
                <a:latin typeface="Leelawadee UI"/>
              </a:rPr>
              <a:t>เทียบเกณฑ์แล้วส่งเสียงเตือน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26464"/>
            <a:ext cx="10607040" cy="11430"/>
          </a:xfrm>
          <a:prstGeom prst="rect">
            <a:avLst/>
          </a:prstGeom>
          <a:solidFill>
            <a:srgbClr val="28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64208"/>
            <a:ext cx="6400800" cy="4315968"/>
          </a:xfrm>
          <a:prstGeom prst="roundRect">
            <a:avLst/>
          </a:prstGeom>
          <a:solidFill>
            <a:srgbClr val="0B1117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773936"/>
            <a:ext cx="59984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ED9A4"/>
                </a:solidFill>
                <a:latin typeface="Consolas"/>
              </a:rPr>
              <a:t>triggerAlert() และการเรียกใช้ใน loop()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084832"/>
            <a:ext cx="5998464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bool alertActive = false;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const unsigned long alertDuration = 500;   // 0.5 วินาที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void triggerAlert() {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  if (!alertActive) {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    alertActive = true;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    lastAlertTime = millis();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    tone(BUZZER_PIN, 2000, alertDuration);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  }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}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74889B"/>
                </a:solidFill>
                <a:latin typeface="Consolas"/>
              </a:rPr>
              <a:t>// ใน loop()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if (doseRate &gt;= alertThreshold) {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  triggerAlert();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} else {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  alertActive = false;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664208"/>
            <a:ext cx="3977639" cy="4315968"/>
          </a:xfrm>
          <a:prstGeom prst="roundRect">
            <a:avLst/>
          </a:prstGeom>
          <a:solidFill>
            <a:srgbClr val="19232E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44384" y="1828800"/>
            <a:ext cx="3502151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F5B34A"/>
                </a:solidFill>
                <a:latin typeface="Leelawadee UI"/>
              </a:rPr>
              <a:t>ทำไมต้องมีตัวแปร alertActive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loop วนเร็วมาก ถ้าไม่มีตัวกันไว้ เสียงจะถูกสั่งซ้ำทุกรอบจนฟังเป็นเสียงรัว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หลักการคือเสียงเตือนต้องเริ่มและหยุดตอนสถานะเปลี่ยน ไม่ใช่เล่นซ้ำทุกรอบ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การตั้งกลับเป็นเท็จเมื่อค่าลดลง ทำให้ครั้งต่อไปที่เกินเกณฑ์ยังเตือนได้อีก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ค่าเริ่มต้นของเกณฑ์คือ 1.0 ไมโครซีเวิร์ตต่อชั่วโมง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1. พัลส์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76856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2. นับ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76472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3. CPM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76088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4. หัก BG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5. µSv/h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6199632"/>
            <a:ext cx="1399032" cy="310896"/>
          </a:xfrm>
          <a:prstGeom prst="roundRect">
            <a:avLst/>
          </a:prstGeom>
          <a:solidFill>
            <a:srgbClr val="4ED9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>
                <a:solidFill>
                  <a:srgbClr val="10161D"/>
                </a:solidFill>
                <a:latin typeface="Leelawadee UI"/>
              </a:rPr>
              <a:t>6. เตือน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74936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7. ส่งออก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ED9A4"/>
                </a:solidFill>
                <a:latin typeface="Leelawadee UI"/>
              </a:rPr>
              <a:t>ขั้นที่ 7 · updateDisplay() และ sendBluetoothData()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CF2F8"/>
                </a:solidFill>
                <a:latin typeface="Leelawadee UI"/>
              </a:rPr>
              <a:t>แสดงผลและส่งออก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26464"/>
            <a:ext cx="10607040" cy="11430"/>
          </a:xfrm>
          <a:prstGeom prst="rect">
            <a:avLst/>
          </a:prstGeom>
          <a:solidFill>
            <a:srgbClr val="28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64208"/>
            <a:ext cx="6400800" cy="4315968"/>
          </a:xfrm>
          <a:prstGeom prst="roundRect">
            <a:avLst/>
          </a:prstGeom>
          <a:solidFill>
            <a:srgbClr val="0B1117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773936"/>
            <a:ext cx="59984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ED9A4"/>
                </a:solidFill>
                <a:latin typeface="Consolas"/>
              </a:rPr>
              <a:t>sendBluetoothData() และแกนของ updateDisplay()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084832"/>
            <a:ext cx="5998464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void sendBluetoothData() {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  char buffer[50];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  snprintf(buffer, sizeof(buffer),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           "cpm=%.0f;uSv/h=%.2f\n", cpm, doseRate);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  bluetooth.print(buffer);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}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74889B"/>
                </a:solidFill>
                <a:latin typeface="Consolas"/>
              </a:rPr>
              <a:t>// updateDisplay() แสดง 4 ค่าบนหน้าเดียว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display.clearDisplay();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display.print("CPM: ");   display.println(cpm, 0);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display.print("Dose: ");  display.print(doseRate, 2);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display.print("Alert: "); display.print(alertThreshold, 2);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display.print("Conv: ");  display.print(convFactor, 5);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if (menuMode != 0) { /* แสดง Menu Mode ต่อท้าย */ }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C3D0DC"/>
                </a:solidFill>
                <a:latin typeface="Consolas"/>
              </a:rPr>
              <a:t>display.display();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664208"/>
            <a:ext cx="3977639" cy="4315968"/>
          </a:xfrm>
          <a:prstGeom prst="roundRect">
            <a:avLst/>
          </a:prstGeom>
          <a:solidFill>
            <a:srgbClr val="19232E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44384" y="1828800"/>
            <a:ext cx="3502151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F5B34A"/>
                </a:solidFill>
                <a:latin typeface="Leelawadee UI"/>
              </a:rPr>
              <a:t>ทำไม snprintf ไม่ใช่ sprintf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sprintf ไม่รู้ขนาด buffer ถ้าข้อความยาวเกินจะเขียนทับหน่วยความจำข้างเคียง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บนไมโครคอนโทรลเลอร์ที่มี RAM แค่ 2 KB อาการที่ได้คือค้างหรือรีเซ็ตแบบหาสาเหตุไม่เจอ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snprintf รับขนาดไปด้วย จึงตัดข้อความแทนที่จะล้น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รูปแบบที่ส่งออกคือ cpm=124.00;uSv/h=1.03 ทุก 10 วินาที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1. พัลส์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76856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2. นับ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76472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3. CPM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76088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4. หัก BG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5. µSv/h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6199632"/>
            <a:ext cx="1399032" cy="310896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0">
                <a:solidFill>
                  <a:srgbClr val="74889B"/>
                </a:solidFill>
                <a:latin typeface="Leelawadee UI"/>
              </a:rPr>
              <a:t>6. เตือน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74936" y="6199632"/>
            <a:ext cx="1399032" cy="310896"/>
          </a:xfrm>
          <a:prstGeom prst="roundRect">
            <a:avLst/>
          </a:prstGeom>
          <a:solidFill>
            <a:srgbClr val="4ED9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>
                <a:solidFill>
                  <a:srgbClr val="10161D"/>
                </a:solidFill>
                <a:latin typeface="Leelawadee UI"/>
              </a:rPr>
              <a:t>7. ส่งออก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ED9A4"/>
                </a:solidFill>
                <a:latin typeface="Leelawadee UI"/>
              </a:rPr>
              <a:t>นอกเส้นทางสัญญาณ · readButton() handleMenu()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CF2F8"/>
                </a:solidFill>
                <a:latin typeface="Leelawadee UI"/>
              </a:rPr>
              <a:t>การตั้งค่าที่หน้าเครื่อง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26464"/>
            <a:ext cx="10607040" cy="11430"/>
          </a:xfrm>
          <a:prstGeom prst="rect">
            <a:avLst/>
          </a:prstGeom>
          <a:solidFill>
            <a:srgbClr val="28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64208"/>
            <a:ext cx="6400800" cy="4315968"/>
          </a:xfrm>
          <a:prstGeom prst="roundRect">
            <a:avLst/>
          </a:prstGeom>
          <a:solidFill>
            <a:srgbClr val="0B1117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773936"/>
            <a:ext cx="59984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ED9A4"/>
                </a:solidFill>
                <a:latin typeface="Consolas"/>
              </a:rPr>
              <a:t>readButton() และ handleMenu()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084832"/>
            <a:ext cx="5998464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int readButton(int pin) {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  if (digitalRead(pin) == LOW) {          // Active Low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    if ((millis() - lastButtonTime) &gt; debounceDelay) {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      lastButtonTime = millis();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      return 1;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    }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  }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  return 0;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}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void handleMenu() {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  if (readButton(BUTTON_SEL)) {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    menuMode = (menuMode + 1) % 4;        // วนกลับ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    delay(200);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  }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  if (menuMode == 1) {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    if (readButton(BUTTON_UP)) convFactor += 0.0001;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    if (readButton(BUTTON_DN) &amp;&amp; convFactor &gt; 0)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        convFactor -= 0.0001;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  }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74889B"/>
                </a:solidFill>
                <a:latin typeface="Consolas"/>
              </a:rPr>
              <a:t>  // menuMode 2 = background +-1.0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74889B"/>
                </a:solidFill>
                <a:latin typeface="Consolas"/>
              </a:rPr>
              <a:t>  // menuMode 3 = alertThreshold +-0.1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664208"/>
            <a:ext cx="3977639" cy="4315968"/>
          </a:xfrm>
          <a:prstGeom prst="roundRect">
            <a:avLst/>
          </a:prstGeom>
          <a:solidFill>
            <a:srgbClr val="19232E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44384" y="1828800"/>
            <a:ext cx="3502151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F5B34A"/>
                </a:solidFill>
                <a:latin typeface="Leelawadee UI"/>
              </a:rPr>
              <a:t>จุดที่ต้องอธิบายได้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ปุ่มตั้งเป็น INPUT_PULLUP ค่าปกติจึงเป็น HIGH กดแล้วลงกราวด์ได้ LOW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ข้อดีคือไม่ต้องใส่ตัวต้านทานภายนอกเพิ่ม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debounceDelay 200 ms กันหน้าสัมผัสกระเด้ง ซึ่งทำให้กดครั้งเดียวนับได้หลายครั้ง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มอด 4 ทำให้เมนูวนกลับหน้าแรกเอง ไม่ต้องมีปุ่ม Back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ทุกโหมดมีเงื่อนไขกันค่าติดลบ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สามค่าที่ปรับได้ คือค่าที่ใช้ในขั้นที่ 4 5 และ 6 พอดี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ED9A4"/>
                </a:solidFill>
                <a:latin typeface="Leelawadee UI"/>
              </a:rPr>
              <a:t>โครงของโปรแกรม · setup()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CF2F8"/>
                </a:solidFill>
                <a:latin typeface="Leelawadee UI"/>
              </a:rPr>
              <a:t>เตรียมของครั้งเดียวตอนเปิดเครื่อง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26464"/>
            <a:ext cx="10607040" cy="11430"/>
          </a:xfrm>
          <a:prstGeom prst="rect">
            <a:avLst/>
          </a:prstGeom>
          <a:solidFill>
            <a:srgbClr val="28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64208"/>
            <a:ext cx="6400800" cy="4315968"/>
          </a:xfrm>
          <a:prstGeom prst="roundRect">
            <a:avLst/>
          </a:prstGeom>
          <a:solidFill>
            <a:srgbClr val="0B1117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773936"/>
            <a:ext cx="59984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ED9A4"/>
                </a:solidFill>
                <a:latin typeface="Consolas"/>
              </a:rPr>
              <a:t>setup()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084832"/>
            <a:ext cx="5998464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void setup() {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  Serial.begin(9600);        // Serial Monitor สำหรับดีบัก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  bluetooth.begin(9600);     // HC-05 ใช้ 9600 baud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  if (!display.begin(SSD1306_SWITCHCAPVCC, OLED_ADDR)) {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    Serial.println(F("SSD1306 allocation failed"));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    for (;;);                // หยุดทำงานถ้าจอไม่เริ่ม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  }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  display.clearDisplay();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  display.display();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  delay(1000);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  pinMode(GEIGER_PIN, INPUT);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  pinMode(BUTTON_SEL, INPUT_PULLUP);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  pinMode(BUTTON_UP, INPUT_PULLUP);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  pinMode(BUTTON_DN, INPUT_PULLUP);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  pinMode(BUZZER_PIN, OUTPUT);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  attachInterrupt(digitalPinToInterrupt(GEIGER_PIN),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                  countPulse, RISING);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74889B"/>
                </a:solidFill>
                <a:latin typeface="Consolas"/>
              </a:rPr>
              <a:t>  // แสดง Geiger Counter / LND712 Ready แล้ว delay(2000)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C3D0DC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664208"/>
            <a:ext cx="3977639" cy="4315968"/>
          </a:xfrm>
          <a:prstGeom prst="roundRect">
            <a:avLst/>
          </a:prstGeom>
          <a:solidFill>
            <a:srgbClr val="19232E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44384" y="1828800"/>
            <a:ext cx="3502151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F5B34A"/>
                </a:solidFill>
                <a:latin typeface="Leelawadee UI"/>
              </a:rPr>
              <a:t>จุดที่น่าสังเกต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ถ้าจอเริ่มไม่สำเร็จ โปรแกรมหยุดด้วย for(;;) ไม่เดินต่อ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เป็นการตัดสินใจว่าเครื่องที่ไม่มีจอถือว่าใช้งานไม่ได้ ดีกว่าปล่อยให้เดินต่อแบบเงียบ ๆ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F() ที่ครอบข้อความ ทำให้ข้อความไปอยู่ใน flash แทน RAM ซึ่งมีแค่ 2 KB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ปุ่มเป็น INPUT_PULLUP ส่วนขาพัลส์เป็น INPUT ธรรมดา เพราะโมดูลขับสัญญาณมาให้แล้ว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ED9A4"/>
                </a:solidFill>
                <a:latin typeface="Leelawadee UI"/>
              </a:rPr>
              <a:t>โครงของโปรแกรม · loop()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CF2F8"/>
                </a:solidFill>
                <a:latin typeface="Leelawadee UI"/>
              </a:rPr>
              <a:t>loop คือเส้นทางสัญญาณทั้งเส้น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26464"/>
            <a:ext cx="10607040" cy="11430"/>
          </a:xfrm>
          <a:prstGeom prst="rect">
            <a:avLst/>
          </a:prstGeom>
          <a:solidFill>
            <a:srgbClr val="28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64208"/>
            <a:ext cx="6400800" cy="4315968"/>
          </a:xfrm>
          <a:prstGeom prst="roundRect">
            <a:avLst/>
          </a:prstGeom>
          <a:solidFill>
            <a:srgbClr val="0B1117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773936"/>
            <a:ext cx="59984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ED9A4"/>
                </a:solidFill>
                <a:latin typeface="Consolas"/>
              </a:rPr>
              <a:t>loop()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084832"/>
            <a:ext cx="5998464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50">
                <a:solidFill>
                  <a:srgbClr val="C3D0DC"/>
                </a:solidFill>
                <a:latin typeface="Consolas"/>
              </a:rPr>
              <a:t>void loop() {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50">
                <a:solidFill>
                  <a:srgbClr val="C3D0DC"/>
                </a:solidFill>
                <a:latin typeface="Consolas"/>
              </a:rPr>
              <a:t>  handleMenu();                      // ทุกรอบ ปุ่มจะได้ไว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50">
                <a:solidFill>
                  <a:srgbClr val="C3D0DC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50">
                <a:solidFill>
                  <a:srgbClr val="C3D0DC"/>
                </a:solidFill>
                <a:latin typeface="Consolas"/>
              </a:rPr>
              <a:t>  if (millis() - lastSampleTime &gt;= SAMPLE_TIME) {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50">
                <a:solidFill>
                  <a:srgbClr val="C3D0DC"/>
                </a:solidFill>
                <a:latin typeface="Consolas"/>
              </a:rPr>
              <a:t>    noInterrupts();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50">
                <a:solidFill>
                  <a:srgbClr val="C3D0DC"/>
                </a:solidFill>
                <a:latin typeface="Consolas"/>
              </a:rPr>
              <a:t>    unsigned long counts = pulseCount;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50">
                <a:solidFill>
                  <a:srgbClr val="C3D0DC"/>
                </a:solidFill>
                <a:latin typeface="Consolas"/>
              </a:rPr>
              <a:t>    pulseCount = 0;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50">
                <a:solidFill>
                  <a:srgbClr val="C3D0DC"/>
                </a:solidFill>
                <a:latin typeface="Consolas"/>
              </a:rPr>
              <a:t>    interrupts();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50">
                <a:solidFill>
                  <a:srgbClr val="C3D0DC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50">
                <a:solidFill>
                  <a:srgbClr val="C3D0DC"/>
                </a:solidFill>
                <a:latin typeface="Consolas"/>
              </a:rPr>
              <a:t>    cpm = counts * MULTIPLIER;                  // ขั้น 3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50">
                <a:solidFill>
                  <a:srgbClr val="C3D0DC"/>
                </a:solidFill>
                <a:latin typeface="Consolas"/>
              </a:rPr>
              <a:t>    float adjustedCPM = cpm - background;       // ขั้น 4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50">
                <a:solidFill>
                  <a:srgbClr val="C3D0DC"/>
                </a:solidFill>
                <a:latin typeface="Consolas"/>
              </a:rPr>
              <a:t>    if (adjustedCPM &lt; 0) adjustedCPM = 0;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50">
                <a:solidFill>
                  <a:srgbClr val="C3D0DC"/>
                </a:solidFill>
                <a:latin typeface="Consolas"/>
              </a:rPr>
              <a:t>    doseRate = adjustedCPM * convFactor;        // ขั้น 5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50">
                <a:solidFill>
                  <a:srgbClr val="C3D0DC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50">
                <a:solidFill>
                  <a:srgbClr val="C3D0DC"/>
                </a:solidFill>
                <a:latin typeface="Consolas"/>
              </a:rPr>
              <a:t>    if (doseRate &gt;= alertThreshold) {           // ขั้น 6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50">
                <a:solidFill>
                  <a:srgbClr val="C3D0DC"/>
                </a:solidFill>
                <a:latin typeface="Consolas"/>
              </a:rPr>
              <a:t>      triggerAlert();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50">
                <a:solidFill>
                  <a:srgbClr val="C3D0DC"/>
                </a:solidFill>
                <a:latin typeface="Consolas"/>
              </a:rPr>
              <a:t>    } else {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50">
                <a:solidFill>
                  <a:srgbClr val="C3D0DC"/>
                </a:solidFill>
                <a:latin typeface="Consolas"/>
              </a:rPr>
              <a:t>      alertActive = false;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50">
                <a:solidFill>
                  <a:srgbClr val="C3D0DC"/>
                </a:solidFill>
                <a:latin typeface="Consolas"/>
              </a:rPr>
              <a:t>    }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50">
                <a:solidFill>
                  <a:srgbClr val="C3D0DC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50">
                <a:solidFill>
                  <a:srgbClr val="C3D0DC"/>
                </a:solidFill>
                <a:latin typeface="Consolas"/>
              </a:rPr>
              <a:t>    updateDisplay();                            // ขั้น 7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50">
                <a:solidFill>
                  <a:srgbClr val="C3D0DC"/>
                </a:solidFill>
                <a:latin typeface="Consolas"/>
              </a:rPr>
              <a:t>    sendBluetoothData();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50">
                <a:solidFill>
                  <a:srgbClr val="C3D0DC"/>
                </a:solidFill>
                <a:latin typeface="Consolas"/>
              </a:rPr>
              <a:t>    lastSampleTime = millis();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50">
                <a:solidFill>
                  <a:srgbClr val="C3D0DC"/>
                </a:solidFill>
                <a:latin typeface="Consolas"/>
              </a:rPr>
              <a:t>  }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50">
                <a:solidFill>
                  <a:srgbClr val="C3D0DC"/>
                </a:solidFill>
                <a:latin typeface="Consolas"/>
              </a:rPr>
              <a:t>  delay(50);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50">
                <a:solidFill>
                  <a:srgbClr val="C3D0DC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664208"/>
            <a:ext cx="3977639" cy="4315968"/>
          </a:xfrm>
          <a:prstGeom prst="roundRect">
            <a:avLst/>
          </a:prstGeom>
          <a:solidFill>
            <a:srgbClr val="19232E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44384" y="1828800"/>
            <a:ext cx="3502151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F5B34A"/>
                </a:solidFill>
                <a:latin typeface="Leelawadee UI"/>
              </a:rPr>
              <a:t>หน้านี้คือหน้าสรุป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ทุกขั้นที่เล่ามาทั้งหมด อยู่ในบล็อกเดียวนี้เรียงจากบนลงล่าง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handleMenu อยู่นอกบล็อก เพราะปุ่มต้องตอบสนองทันที ไม่ใช่ทุก 10 วินาที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delay(50) ท้ายลูปเป็นการถ่วงเวลาให้ปุ่มทำงานได้ทัน โดยไม่กินซีพียูทั้งหมด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250">
                <a:solidFill>
                  <a:srgbClr val="C3D0DC"/>
                </a:solidFill>
                <a:latin typeface="Leelawadee UI"/>
              </a:rPr>
              <a:t>ถ้าจำสไลด์อื่นไม่ได้ ให้จำหน้านี้หน้าเดียวก็เล่าได้ทั้งเรื่อง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ED9A4"/>
                </a:solidFill>
                <a:latin typeface="Leelawadee UI"/>
              </a:rPr>
              <a:t>ภาคผนวก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CF2F8"/>
                </a:solidFill>
                <a:latin typeface="Leelawadee UI"/>
              </a:rPr>
              <a:t>อุปกรณ์และการต่อสาย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26464"/>
            <a:ext cx="10607040" cy="11430"/>
          </a:xfrm>
          <a:prstGeom prst="rect">
            <a:avLst/>
          </a:prstGeom>
          <a:solidFill>
            <a:srgbClr val="28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6400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ED9A4"/>
                          </a:solidFill>
                          <a:latin typeface="Leelawadee UI"/>
                        </a:rPr>
                        <a:t>อุปกรณ์</a:t>
                      </a:r>
                    </a:p>
                  </a:txBody>
                  <a:tcPr anchor="ctr">
                    <a:solidFill>
                      <a:srgbClr val="1923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ED9A4"/>
                          </a:solidFill>
                          <a:latin typeface="Leelawadee UI"/>
                        </a:rPr>
                        <a:t>ขาสัญญาณ</a:t>
                      </a:r>
                    </a:p>
                  </a:txBody>
                  <a:tcPr anchor="ctr">
                    <a:solidFill>
                      <a:srgbClr val="1923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ED9A4"/>
                          </a:solidFill>
                          <a:latin typeface="Leelawadee UI"/>
                        </a:rPr>
                        <a:t>ต่อเข้า Arduino</a:t>
                      </a:r>
                    </a:p>
                  </a:txBody>
                  <a:tcPr anchor="ctr">
                    <a:solidFill>
                      <a:srgbClr val="1923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C3D0DC"/>
                          </a:solidFill>
                          <a:latin typeface="Leelawadee UI"/>
                        </a:rPr>
                        <a:t>โมดูลจ่ายแรงดันสูง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C3D0DC"/>
                          </a:solidFill>
                          <a:latin typeface="Leelawadee UI"/>
                        </a:rPr>
                        <a:t>Pulse Output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C3D0DC"/>
                          </a:solidFill>
                          <a:latin typeface="Consolas"/>
                        </a:rPr>
                        <a:t>D2  (Interrupt 0)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C3D0DC"/>
                          </a:solidFill>
                          <a:latin typeface="Leelawadee UI"/>
                        </a:rPr>
                        <a:t>จอ OLED I2C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C3D0DC"/>
                          </a:solidFill>
                          <a:latin typeface="Leelawadee UI"/>
                        </a:rPr>
                        <a:t>SDA / SCL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C3D0DC"/>
                          </a:solidFill>
                          <a:latin typeface="Consolas"/>
                        </a:rPr>
                        <a:t>A4 / A5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C3D0DC"/>
                          </a:solidFill>
                          <a:latin typeface="Leelawadee UI"/>
                        </a:rPr>
                        <a:t>ปุ่ม Select / Up / Down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C3D0DC"/>
                          </a:solidFill>
                          <a:latin typeface="Leelawadee UI"/>
                        </a:rPr>
                        <a:t>Output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C3D0DC"/>
                          </a:solidFill>
                          <a:latin typeface="Consolas"/>
                        </a:rPr>
                        <a:t>D3 / D4 / D5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C3D0DC"/>
                          </a:solidFill>
                          <a:latin typeface="Leelawadee UI"/>
                        </a:rPr>
                        <a:t>Buzzer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C3D0DC"/>
                          </a:solidFill>
                          <a:latin typeface="Leelawadee UI"/>
                        </a:rPr>
                        <a:t>Signal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C3D0DC"/>
                          </a:solidFill>
                          <a:latin typeface="Consolas"/>
                        </a:rPr>
                        <a:t>D6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C3D0DC"/>
                          </a:solidFill>
                          <a:latin typeface="Leelawadee UI"/>
                        </a:rPr>
                        <a:t>Bluetooth HC-05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C3D0DC"/>
                          </a:solidFill>
                          <a:latin typeface="Leelawadee UI"/>
                        </a:rPr>
                        <a:t>TX / RX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C3D0DC"/>
                          </a:solidFill>
                          <a:latin typeface="Consolas"/>
                        </a:rPr>
                        <a:t>D7 / D8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06640" y="1783080"/>
            <a:ext cx="39776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8000"/>
              </a:lnSpc>
              <a:spcAft>
                <a:spcPts val="700"/>
              </a:spcAft>
            </a:pPr>
            <a:r>
              <a:rPr sz="1250">
                <a:solidFill>
                  <a:srgbClr val="74889B"/>
                </a:solidFill>
                <a:latin typeface="Leelawadee UI"/>
              </a:rPr>
              <a:t>— </a:t>
            </a:r>
            <a:r>
              <a:rPr sz="1250">
                <a:solidFill>
                  <a:srgbClr val="C3D0DC"/>
                </a:solidFill>
                <a:latin typeface="Leelawadee UI"/>
              </a:rPr>
              <a:t>Arduino Pro Mini 5V 16MHz</a:t>
            </a:r>
          </a:p>
          <a:p>
            <a:pPr>
              <a:lnSpc>
                <a:spcPct val="138000"/>
              </a:lnSpc>
              <a:spcAft>
                <a:spcPts val="700"/>
              </a:spcAft>
            </a:pPr>
            <a:r>
              <a:rPr sz="1250">
                <a:solidFill>
                  <a:srgbClr val="74889B"/>
                </a:solidFill>
                <a:latin typeface="Leelawadee UI"/>
              </a:rPr>
              <a:t>— </a:t>
            </a:r>
            <a:r>
              <a:rPr sz="1250">
                <a:solidFill>
                  <a:srgbClr val="C3D0DC"/>
                </a:solidFill>
                <a:latin typeface="Leelawadee UI"/>
              </a:rPr>
              <a:t>หลอด LND712</a:t>
            </a:r>
          </a:p>
          <a:p>
            <a:pPr>
              <a:lnSpc>
                <a:spcPct val="138000"/>
              </a:lnSpc>
              <a:spcAft>
                <a:spcPts val="700"/>
              </a:spcAft>
            </a:pPr>
            <a:r>
              <a:rPr sz="1250">
                <a:solidFill>
                  <a:srgbClr val="74889B"/>
                </a:solidFill>
                <a:latin typeface="Leelawadee UI"/>
              </a:rPr>
              <a:t>— </a:t>
            </a:r>
            <a:r>
              <a:rPr sz="1250">
                <a:solidFill>
                  <a:srgbClr val="C3D0DC"/>
                </a:solidFill>
                <a:latin typeface="Leelawadee UI"/>
              </a:rPr>
              <a:t>โมดูลจ่ายแรงดันสูง 400-550V</a:t>
            </a:r>
          </a:p>
          <a:p>
            <a:pPr>
              <a:lnSpc>
                <a:spcPct val="138000"/>
              </a:lnSpc>
              <a:spcAft>
                <a:spcPts val="700"/>
              </a:spcAft>
            </a:pPr>
            <a:r>
              <a:rPr sz="1250">
                <a:solidFill>
                  <a:srgbClr val="74889B"/>
                </a:solidFill>
                <a:latin typeface="Leelawadee UI"/>
              </a:rPr>
              <a:t>— </a:t>
            </a:r>
            <a:r>
              <a:rPr sz="1250">
                <a:solidFill>
                  <a:srgbClr val="C3D0DC"/>
                </a:solidFill>
                <a:latin typeface="Leelawadee UI"/>
              </a:rPr>
              <a:t>จอ OLED 0.96 นิ้ว SSD1306</a:t>
            </a:r>
          </a:p>
          <a:p>
            <a:pPr>
              <a:lnSpc>
                <a:spcPct val="138000"/>
              </a:lnSpc>
              <a:spcAft>
                <a:spcPts val="700"/>
              </a:spcAft>
            </a:pPr>
            <a:r>
              <a:rPr sz="1250">
                <a:solidFill>
                  <a:srgbClr val="74889B"/>
                </a:solidFill>
                <a:latin typeface="Leelawadee UI"/>
              </a:rPr>
              <a:t>— </a:t>
            </a:r>
            <a:r>
              <a:rPr sz="1250">
                <a:solidFill>
                  <a:srgbClr val="C3D0DC"/>
                </a:solidFill>
                <a:latin typeface="Leelawadee UI"/>
              </a:rPr>
              <a:t>Bluetooth HC-05 หรือ HC-06</a:t>
            </a:r>
          </a:p>
          <a:p>
            <a:pPr>
              <a:lnSpc>
                <a:spcPct val="138000"/>
              </a:lnSpc>
              <a:spcAft>
                <a:spcPts val="700"/>
              </a:spcAft>
            </a:pPr>
            <a:r>
              <a:rPr sz="1250">
                <a:solidFill>
                  <a:srgbClr val="74889B"/>
                </a:solidFill>
                <a:latin typeface="Leelawadee UI"/>
              </a:rPr>
              <a:t>— </a:t>
            </a:r>
            <a:r>
              <a:rPr sz="1250">
                <a:solidFill>
                  <a:srgbClr val="C3D0DC"/>
                </a:solidFill>
                <a:latin typeface="Leelawadee UI"/>
              </a:rPr>
              <a:t>ปุ่ม Tactile Switch 3 ตัว</a:t>
            </a:r>
          </a:p>
          <a:p>
            <a:pPr>
              <a:lnSpc>
                <a:spcPct val="138000"/>
              </a:lnSpc>
              <a:spcAft>
                <a:spcPts val="700"/>
              </a:spcAft>
            </a:pPr>
            <a:r>
              <a:rPr sz="1250">
                <a:solidFill>
                  <a:srgbClr val="74889B"/>
                </a:solidFill>
                <a:latin typeface="Leelawadee UI"/>
              </a:rPr>
              <a:t>— </a:t>
            </a:r>
            <a:r>
              <a:rPr sz="1250">
                <a:solidFill>
                  <a:srgbClr val="C3D0DC"/>
                </a:solidFill>
                <a:latin typeface="Leelawadee UI"/>
              </a:rPr>
              <a:t>Buzzer แบบ Passive</a:t>
            </a:r>
          </a:p>
          <a:p>
            <a:pPr>
              <a:lnSpc>
                <a:spcPct val="138000"/>
              </a:lnSpc>
              <a:spcAft>
                <a:spcPts val="700"/>
              </a:spcAft>
            </a:pPr>
            <a:r>
              <a:rPr sz="1250">
                <a:solidFill>
                  <a:srgbClr val="74889B"/>
                </a:solidFill>
                <a:latin typeface="Leelawadee UI"/>
              </a:rPr>
              <a:t>— </a:t>
            </a:r>
            <a:r>
              <a:rPr sz="1250">
                <a:solidFill>
                  <a:srgbClr val="C3D0DC"/>
                </a:solidFill>
                <a:latin typeface="Leelawadee UI"/>
              </a:rPr>
              <a:t>แบต Li-ion 3.7V หรือ Power Bank</a:t>
            </a:r>
          </a:p>
          <a:p>
            <a:pPr>
              <a:lnSpc>
                <a:spcPct val="138000"/>
              </a:lnSpc>
              <a:spcAft>
                <a:spcPts val="700"/>
              </a:spcAft>
            </a:pPr>
            <a:r>
              <a:rPr sz="1250">
                <a:solidFill>
                  <a:srgbClr val="74889B"/>
                </a:solidFill>
                <a:latin typeface="Leelawadee UI"/>
              </a:rPr>
              <a:t>— </a:t>
            </a:r>
            <a:r>
              <a:rPr sz="1250">
                <a:solidFill>
                  <a:srgbClr val="C3D0DC"/>
                </a:solidFill>
                <a:latin typeface="Leelawadee UI"/>
              </a:rPr>
              <a:t>สายไฟ อุปกรณ์บัดกรี เบรดบอร์ด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ED9A4"/>
                </a:solidFill>
                <a:latin typeface="Leelawadee UI"/>
              </a:rPr>
              <a:t>ภาคผนวก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CF2F8"/>
                </a:solidFill>
                <a:latin typeface="Leelawadee UI"/>
              </a:rPr>
              <a:t>ทดสอบ ปรับเทียบ แก้ปัญหา และอ้างอิง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26464"/>
            <a:ext cx="10607040" cy="11430"/>
          </a:xfrm>
          <a:prstGeom prst="rect">
            <a:avLst/>
          </a:prstGeom>
          <a:solidFill>
            <a:srgbClr val="28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8000"/>
              </a:lnSpc>
              <a:spcBef>
                <a:spcPts val="600"/>
              </a:spcBef>
              <a:spcAft>
                <a:spcPts val="700"/>
              </a:spcAft>
            </a:pPr>
            <a:r>
              <a:rPr sz="1350" b="1">
                <a:solidFill>
                  <a:srgbClr val="4ED9A4"/>
                </a:solidFill>
                <a:latin typeface="Leelawadee UI"/>
              </a:rPr>
              <a:t>การทดสอบและพลังงาน</a:t>
            </a:r>
          </a:p>
          <a:p>
            <a:pPr>
              <a:lnSpc>
                <a:spcPct val="138000"/>
              </a:lnSpc>
              <a:spcAft>
                <a:spcPts val="700"/>
              </a:spcAft>
            </a:pPr>
            <a:r>
              <a:rPr sz="1350">
                <a:solidFill>
                  <a:srgbClr val="74889B"/>
                </a:solidFill>
                <a:latin typeface="Leelawadee UI"/>
              </a:rPr>
              <a:t>— </a:t>
            </a:r>
            <a:r>
              <a:rPr sz="1350">
                <a:solidFill>
                  <a:srgbClr val="C3D0DC"/>
                </a:solidFill>
                <a:latin typeface="Leelawadee UI"/>
              </a:rPr>
              <a:t>ทดสอบทีละส่วน ทั้งจอ ปุ่มกด Buzzer และ Bluetooth ก่อนต่อรวม</a:t>
            </a:r>
          </a:p>
          <a:p>
            <a:pPr>
              <a:lnSpc>
                <a:spcPct val="138000"/>
              </a:lnSpc>
              <a:spcAft>
                <a:spcPts val="700"/>
              </a:spcAft>
            </a:pPr>
            <a:r>
              <a:rPr sz="1350">
                <a:solidFill>
                  <a:srgbClr val="74889B"/>
                </a:solidFill>
                <a:latin typeface="Leelawadee UI"/>
              </a:rPr>
              <a:t>— </a:t>
            </a:r>
            <a:r>
              <a:rPr sz="1350">
                <a:solidFill>
                  <a:srgbClr val="C3D0DC"/>
                </a:solidFill>
                <a:latin typeface="Leelawadee UI"/>
              </a:rPr>
              <a:t>ตรวจสัญญาณจากหลอดด้วย oscilloscope หรือ multimeter ที่วัดความถี่ได้</a:t>
            </a:r>
          </a:p>
          <a:p>
            <a:pPr>
              <a:lnSpc>
                <a:spcPct val="138000"/>
              </a:lnSpc>
              <a:spcAft>
                <a:spcPts val="700"/>
              </a:spcAft>
            </a:pPr>
            <a:r>
              <a:rPr sz="1350">
                <a:solidFill>
                  <a:srgbClr val="74889B"/>
                </a:solidFill>
                <a:latin typeface="Leelawadee UI"/>
              </a:rPr>
              <a:t>— </a:t>
            </a:r>
            <a:r>
              <a:rPr sz="1350">
                <a:solidFill>
                  <a:srgbClr val="C3D0DC"/>
                </a:solidFill>
                <a:latin typeface="Leelawadee UI"/>
              </a:rPr>
              <a:t>Pro Mini 20-30 mA + จอ 20 mA + Bluetooth 30 mA รวม 80-100 mA แบต 18650 ใช้ได้ราว 20 ชั่วโมง</a:t>
            </a:r>
          </a:p>
          <a:p>
            <a:pPr>
              <a:lnSpc>
                <a:spcPct val="138000"/>
              </a:lnSpc>
              <a:spcBef>
                <a:spcPts val="600"/>
              </a:spcBef>
              <a:spcAft>
                <a:spcPts val="700"/>
              </a:spcAft>
            </a:pPr>
            <a:r>
              <a:rPr sz="1350" b="1">
                <a:solidFill>
                  <a:srgbClr val="4ED9A4"/>
                </a:solidFill>
                <a:latin typeface="Leelawadee UI"/>
              </a:rPr>
              <a:t>การแก้ปัญหาเบื้องต้น</a:t>
            </a:r>
          </a:p>
          <a:p>
            <a:pPr>
              <a:lnSpc>
                <a:spcPct val="138000"/>
              </a:lnSpc>
              <a:spcAft>
                <a:spcPts val="700"/>
              </a:spcAft>
            </a:pPr>
            <a:r>
              <a:rPr sz="1350">
                <a:solidFill>
                  <a:srgbClr val="74889B"/>
                </a:solidFill>
                <a:latin typeface="Leelawadee UI"/>
              </a:rPr>
              <a:t>— </a:t>
            </a:r>
            <a:r>
              <a:rPr sz="1350">
                <a:solidFill>
                  <a:srgbClr val="C3D0DC"/>
                </a:solidFill>
                <a:latin typeface="Leelawadee UI"/>
              </a:rPr>
              <a:t>จอไม่แสดงผล ตรวจ I2C และสแกน address ด้วยโค้ด Scanner</a:t>
            </a:r>
          </a:p>
          <a:p>
            <a:pPr>
              <a:lnSpc>
                <a:spcPct val="138000"/>
              </a:lnSpc>
              <a:spcAft>
                <a:spcPts val="700"/>
              </a:spcAft>
            </a:pPr>
            <a:r>
              <a:rPr sz="1350">
                <a:solidFill>
                  <a:srgbClr val="74889B"/>
                </a:solidFill>
                <a:latin typeface="Leelawadee UI"/>
              </a:rPr>
              <a:t>— </a:t>
            </a:r>
            <a:r>
              <a:rPr sz="1350">
                <a:solidFill>
                  <a:srgbClr val="C3D0DC"/>
                </a:solidFill>
                <a:latin typeface="Leelawadee UI"/>
              </a:rPr>
              <a:t>Bluetooth ไม่เชื่อมต่อ ตรวจสาย TX RX และ baud rate 9600</a:t>
            </a:r>
          </a:p>
          <a:p>
            <a:pPr>
              <a:lnSpc>
                <a:spcPct val="138000"/>
              </a:lnSpc>
              <a:spcAft>
                <a:spcPts val="700"/>
              </a:spcAft>
            </a:pPr>
            <a:r>
              <a:rPr sz="1350">
                <a:solidFill>
                  <a:srgbClr val="74889B"/>
                </a:solidFill>
                <a:latin typeface="Leelawadee UI"/>
              </a:rPr>
              <a:t>— </a:t>
            </a:r>
            <a:r>
              <a:rPr sz="1350">
                <a:solidFill>
                  <a:srgbClr val="C3D0DC"/>
                </a:solidFill>
                <a:latin typeface="Leelawadee UI"/>
              </a:rPr>
              <a:t>ค่า CPM สูงผิดปกติ ตรวจสัญญาณรบกวน ลองเพิ่ม RC filter ที่ขาสัญญาณ</a:t>
            </a:r>
          </a:p>
          <a:p>
            <a:pPr>
              <a:lnSpc>
                <a:spcPct val="138000"/>
              </a:lnSpc>
              <a:spcBef>
                <a:spcPts val="600"/>
              </a:spcBef>
              <a:spcAft>
                <a:spcPts val="700"/>
              </a:spcAft>
            </a:pPr>
            <a:r>
              <a:rPr sz="1350" b="1">
                <a:solidFill>
                  <a:srgbClr val="4ED9A4"/>
                </a:solidFill>
                <a:latin typeface="Leelawadee UI"/>
              </a:rPr>
              <a:t>อ้างอิงและแนวทางพัฒนาต่อที่คู่มือเสนอ</a:t>
            </a:r>
          </a:p>
          <a:p>
            <a:pPr>
              <a:lnSpc>
                <a:spcPct val="138000"/>
              </a:lnSpc>
              <a:spcAft>
                <a:spcPts val="700"/>
              </a:spcAft>
            </a:pPr>
            <a:r>
              <a:rPr sz="1350">
                <a:solidFill>
                  <a:srgbClr val="74889B"/>
                </a:solidFill>
                <a:latin typeface="Leelawadee UI"/>
              </a:rPr>
              <a:t>— </a:t>
            </a:r>
            <a:r>
              <a:rPr sz="1350">
                <a:solidFill>
                  <a:srgbClr val="C3D0DC"/>
                </a:solidFill>
                <a:latin typeface="Leelawadee UI"/>
              </a:rPr>
              <a:t>LND712 Datasheet · DIY Geiger Counter Reference · danjulio/Geiger-Counter · Conversion Factors จาก Apollo-NG</a:t>
            </a:r>
          </a:p>
          <a:p>
            <a:pPr>
              <a:lnSpc>
                <a:spcPct val="138000"/>
              </a:lnSpc>
              <a:spcAft>
                <a:spcPts val="700"/>
              </a:spcAft>
            </a:pPr>
            <a:r>
              <a:rPr sz="1350">
                <a:solidFill>
                  <a:srgbClr val="74889B"/>
                </a:solidFill>
                <a:latin typeface="Leelawadee UI"/>
              </a:rPr>
              <a:t>— </a:t>
            </a:r>
            <a:r>
              <a:rPr sz="1350">
                <a:solidFill>
                  <a:srgbClr val="C3D0DC"/>
                </a:solidFill>
                <a:latin typeface="Leelawadee UI"/>
              </a:rPr>
              <a:t>บันทึกข้อมูลลง SD Card · แสดงกราฟแนวโน้ม · เพิ่มเซนเซอร์อุณหภูมิและความชื้น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